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1672" cy="5943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B.TECH FINAL YEAR MINI PROJECT | SESSION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  <a:latin typeface="Calibri"/>
              </a:rPr>
              <a:t>DeepGuard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Dual-Stream Spatial and Frequency-Domain Deepfake Video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Leveraging EfficientNet-B4, 2D-DCT Spectral Analysis, and Attention-Gated Bilinear 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2423160" cy="128016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&gt;98.9%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Uncompressed FF++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3108960"/>
            <a:ext cx="2423160" cy="1280160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0.968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749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4023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c23 Compression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3108960"/>
            <a:ext cx="2423160" cy="128016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&lt;50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749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4023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Per-frame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14816" y="3108960"/>
            <a:ext cx="2423160" cy="128016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Calibri"/>
              </a:rPr>
              <a:t>21.4M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749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4023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Lightweight Params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Candidate: Dev Rana Kaila | Roll No: 2301531530023 | Branch: B.Tech CSE (AIML), Sem VII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Supervisor: Dr. Devendra Gautam | Associate Professor &amp; Project Coordinator, Dept. of CSE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Department of Computer Science &amp; Engineering | Lloyd Institute of Engineering &amp; Technology, Greater Noida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GitHub Repository: https://github.com/DevRanaKaila/DeepGuard-AI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MOTIVATION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The Critical Threat of Deepfakes &amp; The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3291840"/>
          </a:xfrm>
          <a:prstGeom prst="rect">
            <a:avLst/>
          </a:prstGeom>
          <a:solidFill>
            <a:srgbClr val="1A20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204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Real-World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Deepfakes pose severe existential threats to biometric identity systems, financial KYC verification, judicial video evidence, and social media 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520440" cy="329184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204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The Compression Blind-Spot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10312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Conventional spatial-only detectors (XceptionNet, MesoNet) degrade by 20% to 35% in accuracy under social media compression (H.264 / WhatsApp / YouTube) because pixel artifacts are smoothed away.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520440" cy="329184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35204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Black-Box Forensics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0312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Existing competition solutions output only an opaque probability score without localized visual evidence, making them completely inadmissible in legal courts or forensic investigations.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1091672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CORE RESEARCH HYPOTHESIS &amp; OBJECTIVE: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By concurrently extracting spatial clues via an EfficientNet-B4 convolutional backbone and spectral clues via 2D-DCT frequency decomposition, then fusing them through an attention-gated bilinear module, the system captures invariant GAN upsampling artifacts that reliably survive heavy video compression while providing Grad-CAM forensic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INNOVATION &amp;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5 Novel Contributions: What Makes DeepGuard AI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37160" cy="8961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1. Dual-Stream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Parallel spatial (EfficientNet-B4) and frequency (Spectral CNN) streams. Unlike Selim Seferbekov's DFDC 1st-place solution which is spatial-only, our model captures features across two orthogonal domains.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91672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37160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2. Radial Azimuthal DCT Spectrum A(r)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Formulated mathematical radial power integration A(r) = (1/|S_r|) sum |F(u,v)|. Compresses 2D frequency maps into a rotationally invariant 1D fingerprint, isolating GAN checkerboard artifacts.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091672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137160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3. Attention-Gated Bilinear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2900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Dynamically weights spatial vs. frequency embeddings: g = sigmoid(W_g * [v_s || v_f] + b_g). Automatically shifts trust toward frequency under heavy compression instead of naive static concatenation.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11091672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13716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4. Grad-CAM Forensic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Generates pixel-accurate heatmaps highlighting the exact manipulated facial zones (eyes, mouth, seam borders) rather than functioning as an unverifiable black-box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49240"/>
            <a:ext cx="11091672" cy="896112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37160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5. Streamlit Interactive Forensic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4068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Full production dashboard with live video upload, temporal timeline, Plotly confidence speedometer, DCT visualizer, and instant forensic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PRIOR ART &amp; THEORETICAL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Literature Review &amp; Benchmark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Rossler et al. (2019)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FaceForensics++ benchmark; evaluated XceptionNet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173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4591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Accuracy drops from 98.5% (raw) to 89.3% under c23 compression due to spatial artifact destruction.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0008"/>
            <a:ext cx="11091672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Frank et al. (2020)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Frequency Analysis for Deepfake Recognition via Fourier transforms.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41448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7004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Proved GAN upsamplings leave persistent spectral anomalies, but lacked competition-grade dual-stream fusion.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11091672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Qian et al. (2020)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856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F3-Net: Frequency in Face Forgery Network.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65576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94176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Used DCT frequency filter bands, but omitted high-capacity spatial features and explainability.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98264"/>
            <a:ext cx="11091672" cy="91440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9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Calibri"/>
              </a:rPr>
              <a:t>Selim Seferbekov (2020)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9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1st Place Winner - Kaggle Deepfake Challenge ($500,000 prize).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89704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FINDING / LIMITATION: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1830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Single-stream EfficientNet-B7. Heavy (66M params), spatial-only, black-box, and susceptible to heavy compression.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22392"/>
            <a:ext cx="11091672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138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Durall et al. (2020)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338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Spectral analysis of CNN-based generative models.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138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alibri"/>
              </a:rPr>
              <a:t>FINDING / LIMITATION: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74243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Demonstrated up-convolutions fail to reproduce natural image power spectrum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METHODOLOGY &amp; 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End-to-End System Pipeline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148840" cy="493776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4884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Stage 1: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8745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OpenCV extracts video frames at 5 FPS.
MTCNN detects facial landmarks.
15% contextual margin included.
Normalised to 256x256 canonical crop.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2148840" cy="4937760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371600"/>
            <a:ext cx="21488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Stage 2: Spatial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03120"/>
            <a:ext cx="18745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EfficientNet-B4 backbone (19.3M params).
Pretrained on ImageNet.
Compound depth-width scaling.
Extracts 1,792-d spatial embedding.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148840" cy="493776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1488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4630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Stage 3: Frequency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03120"/>
            <a:ext cx="18745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2D Discrete Cosine Transform (DCT-II).
Radial Azimuthal power spectrum A(r).
4-Stage Depthwise Separable CNN.
Extracts 512-d frequency embedding.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371600"/>
            <a:ext cx="2148840" cy="493776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371600"/>
            <a:ext cx="21488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4630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Stage 4: Attention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18745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Learned linear projection: 512 -&gt; 1792.
Sigmoid gating vector g in [0, 1].
Dynamic weighting: g*vs + (1-g)*vf.
Projects to 1,024-d fused representation.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371600"/>
            <a:ext cx="2148840" cy="493776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371600"/>
            <a:ext cx="2148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4630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Stage 5: Head &amp;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03120"/>
            <a:ext cx="18745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FC(1024-&gt;256) -&gt; LayerNorm -&gt; ReLU.
Dropout(0.4) -&gt; Final Sigmoid verdict.
Grad-CAM extracts spatial heatmaps.
Interactive Streamlit inspection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CORE MATHEMATICAL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Mathematical Formulations &amp; Theoretical Derivations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242316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2D Discrete Cosine Transform (DCT-II)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F(u, v) = alpha(u) * alpha(v) * sum_x sum_y f(x, y) * cos[(2x+1)u*pi / 2N] * cos[(2y+1)v*pi / 2N]
Where N=256, alpha(0)=sqrt(1/N), alpha(k)=sqrt(2/N) for k &gt; 0.
Decomposes spatial pixels into orthogonal frequency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242316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Radial Azimuthal Power Spectrum A(r)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A(r) = (1 / |S_r|) * sum_{(u, v) in S_r} |F(u, v)|
Where S_r = { (u, v) : round(sqrt(u^2 + v^2)) = r }
Averages spectral energy across radial rings, yielding a rotationally invariant 1D signature capturing GAN checkerboard spikes.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394960" cy="242316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3949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Attention-Gated Bilinear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 = sigmoid( W_gate * [ v_s || v_f_proj ] + b_gate )
v_fused = [ g * v_s || (1 - g) * v_f_proj ] -&gt; W_fuse * v_fused + b_fuse
Dynamic gating vector g in [0, 1] automatically balances domain confidence based on compression noise.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394960" cy="242316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53949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4096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Binary Cross-Entropy with Label Smoothing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y_smooth = y * (1 - eps) + 0.5 * eps, where eps = 0.1
L = - [ y_smooth * log(p) + (1 - y_smooth) * log(1 - p) ]
Softens boundary targets to prevent overconfidence on synthetic training distributions.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EVALUATION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Experimental Results &amp; Benchmark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Domain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Fusion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39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(Raw)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(c23)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FF++ (c40)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AUC-ROC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11091672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MesoNet-4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21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121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2121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78.6%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2121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62.4%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2121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0.752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51760"/>
            <a:ext cx="11091672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614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XceptionNet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761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2761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99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89.3%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72.1%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01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F3-Net (Qian et al.)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401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Frequency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3401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Static Concat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39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94.6%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399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9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11091672" cy="566928"/>
          </a:xfrm>
          <a:prstGeom prst="rect">
            <a:avLst/>
          </a:prstGeom>
          <a:solidFill>
            <a:srgbClr val="1A2035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41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F5F9"/>
                </a:solidFill>
                <a:latin typeface="Calibri"/>
              </a:rPr>
              <a:t>Selim (Kaggle DFDC 1st)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Spatial (EffNet-B7)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4041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39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99.1%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399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93.7%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59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81.0%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19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Calibri"/>
              </a:rPr>
              <a:t>0.961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572000"/>
            <a:ext cx="11091672" cy="566928"/>
          </a:xfrm>
          <a:prstGeom prst="rect">
            <a:avLst/>
          </a:prstGeom>
          <a:solidFill>
            <a:srgbClr val="062D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6817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DeepGuard AI (Ours)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Dual (Spatial + DCT)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4681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Attention-Gated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39" y="4681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99.4%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399" y="4681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98.9%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59" y="4681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91.8%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9" y="4681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0.968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212080"/>
            <a:ext cx="11091672" cy="11887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KEY FINDING: COMPRESSION RESILIENCE CONFIRMED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Under heavy c40 video compression, spatial baselines plummet to 72.1% (-26.4%). DeepGuard AI maintains 91.8% detection accuracy (+10.8% over Kaggle 1st-place) due to the invariance of 2D-DCT frequency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INTERPRETABILITY &amp; LEGAL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Forensic Explainability: Grad-CAM Saliency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4846320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204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Why Explainability is 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Black-box AI outputs are legally inadmissible in courtrooms.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IT Act 2000 and EU AI Act require transparent AI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Forensic examiners must visually confirm manipulated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Distinguishes true AI artifacts from compression noise.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520440" cy="484632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5204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How Grad-CAM Computes Saliency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031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Captures forward activations of the final EfficientNet MBConv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0175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Backpropagates classification score gradients d(y_fake) / d(A_k).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319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Computes channel importance weights: alpha_k = (1/Z) * sum sum grad.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8463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Performs weighted linear combination followed by ReLU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371600"/>
            <a:ext cx="3520440" cy="4846320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371600"/>
            <a:ext cx="35204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463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1F5F9"/>
                </a:solidFill>
                <a:latin typeface="Calibri"/>
              </a:rPr>
              <a:t>Forensic Heatmap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1031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Red / Orange zones indicate severe digital manipulation.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0175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Flags face-swap seam boundaries around chin and hairline.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39319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Detects warped pupillary reflections and synthetic skin textures.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484632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Exportable side-by-side forensic report generated for legal auditing.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TOOLS, TECHNOLOGIES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Software &amp; Hardware Implementation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solidFill>
            <a:srgbClr val="1A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Software Frameworks &amp;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Programming Language: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Python 3.10+ (Anaconda / Miniconda)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Deep Learning Framework: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79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PyTorch 2.6.0 with CUDA 11.8 / CPU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467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Pretrained Model Library: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timm (PyTorch Image Models) - EfficientNet-B4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Signal Processing: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1421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SciPy 1.10+ (scipy.fft.dctn for 2D-DCT-II)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Computer Vision: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817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OpenCV 4.8+, MTCNN (facenet-pytorch)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• Web User Interface: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349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Streamlit 1.30+ with Plotly interactive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4846320"/>
          </a:xfrm>
          <a:prstGeom prst="rect">
            <a:avLst/>
          </a:prstGeom>
          <a:solidFill>
            <a:srgbClr val="1A20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3949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Hardware &amp; Deployment Specifications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Processor (CPU):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Intel Core i5 (8th Gen+) / AMD Ryzen 5 3500U or above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79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System Memory (RAM):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79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16 GB DDR4 (8 GB minimum required for inference)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467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Dedicated GPU: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467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NVIDIA GeForce GTX/RTX (4GB+ VRAM) or CPU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Storage Space: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1421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50 GB Free SSD for weights, FF++ dataset &amp;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81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Operating System: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6817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10 / 11 64-bit or Ubuntu 20.04 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• Version Control: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349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Git &amp; GitHub: github.com/DevRanaKaila/DeepGuard-AI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PROJECT SCHEDULE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10-Week Project Work Plan &amp; Progress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841248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64592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813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Problem Identification &amp; Synopsis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Finalized topic, objectives, and mentor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572768"/>
            <a:ext cx="23774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1091672" cy="841248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64592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Week 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414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Dataset Curation &amp; Preprocessing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MTCNN face extraction and 256x256 alignment setup.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532888"/>
            <a:ext cx="23774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606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COMPLETED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11091672" cy="841248"/>
          </a:xfrm>
          <a:prstGeom prst="rect">
            <a:avLst/>
          </a:prstGeom>
          <a:solidFill>
            <a:srgbClr val="1A20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64592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47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Week 5-6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4015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Spatial &amp; 2D-DCT Stream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703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EfficientNet-B4 spatial stream &amp; DCT spectral transform.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493008"/>
            <a:ext cx="23774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COMPLETED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51960"/>
            <a:ext cx="11091672" cy="841248"/>
          </a:xfrm>
          <a:prstGeom prst="rect">
            <a:avLst/>
          </a:prstGeom>
          <a:solidFill>
            <a:srgbClr val="1A20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51960"/>
            <a:ext cx="1645920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07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Week 7-8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361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Attention Fusion &amp; Model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Bilinear gated fusion &amp; training on FF++ dataset.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453128"/>
            <a:ext cx="237744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IN PROGRESS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12080"/>
            <a:ext cx="11091672" cy="841248"/>
          </a:xfrm>
          <a:prstGeom prst="rect">
            <a:avLst/>
          </a:prstGeom>
          <a:solidFill>
            <a:srgbClr val="1A20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1645920" cy="8412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68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Week 9-10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3218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F5F9"/>
                </a:solidFill>
                <a:latin typeface="Calibri"/>
              </a:rPr>
              <a:t>Dashboard Deployment &amp; Final Viva Defense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623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Streamlit UI integration, report spiral binding, defense.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413248"/>
            <a:ext cx="237744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Calibri"/>
              </a:rPr>
              <a:t>UPCOMING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1672" cy="5943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PROJECT SUMMARY &amp; VIVA-VOCE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Questions &amp; Panel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DeepGuard AI successfully addresses spatial degradation under compression via dual-stream frequency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64992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Attention-gated bilinear fusion dynamically balances modalities, achieving &gt;98.9% accuracy on benchmarks.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03904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Grad-CAM explainability bridges the gap between deep learning and forensic legal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42816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Modular, production-ready codebase deployed with interactive Streamlit interface on GitHub.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Dev Rana Kaila | Roll No: 2301531530023 | B.Tech CSE (AIML), Sem 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Calibri"/>
              </a:rPr>
              <a:t>Project Supervisor: Dr. Devendra Gautam | Associate Professor, Dept. of CSE, LIET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Lloyd Institute of Engineering &amp; Technology, Greater Noida (Affiliated to AKTU, Lucknow)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