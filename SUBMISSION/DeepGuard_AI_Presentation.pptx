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1094415" cy="6035040"/>
          </a:xfrm>
          <a:prstGeom prst="rect">
            <a:avLst/>
          </a:prstGeom>
          <a:solidFill>
            <a:srgbClr val="11182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alibri"/>
              </a:rPr>
              <a:t>B.TECH FINAL YEAR MINI PROJECT DEFENSE | SESSION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D4FF"/>
                </a:solidFill>
                <a:latin typeface="Calibri"/>
              </a:rPr>
              <a:t>DeepGuard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Dual-Stream Spatial &amp; Frequency-Domain Deepfake Video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Robust Video Manipulation Detection via EfficientNet-B4, 2D-DCT Spectral Analysis &amp; Attention-Gated Bilinear Fusion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71800"/>
            <a:ext cx="2423160" cy="1234440"/>
          </a:xfrm>
          <a:prstGeom prst="rect">
            <a:avLst/>
          </a:prstGeom>
          <a:solidFill>
            <a:srgbClr val="1A20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00D4FF"/>
                </a:solidFill>
                <a:latin typeface="Calibri"/>
              </a:rPr>
              <a:t>&gt;98.9%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4787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1F5F9"/>
                </a:solidFill>
                <a:latin typeface="Calibri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1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Uncompressed FF++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7872" y="2971800"/>
            <a:ext cx="2423160" cy="1234440"/>
          </a:xfrm>
          <a:prstGeom prst="rect">
            <a:avLst/>
          </a:prstGeom>
          <a:solidFill>
            <a:srgbClr val="1A2035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30906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3B82F6"/>
                </a:solidFill>
                <a:latin typeface="Calibri"/>
              </a:rPr>
              <a:t>0.968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54787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1F5F9"/>
                </a:solidFill>
                <a:latin typeface="Calibri"/>
              </a:rPr>
              <a:t>AUC-ROC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822191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c23 Compression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2971800"/>
            <a:ext cx="2423160" cy="1234440"/>
          </a:xfrm>
          <a:prstGeom prst="rect">
            <a:avLst/>
          </a:prstGeom>
          <a:solidFill>
            <a:srgbClr val="1A20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30906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10B981"/>
                </a:solidFill>
                <a:latin typeface="Calibri"/>
              </a:rPr>
              <a:t>&lt;50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354787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1F5F9"/>
                </a:solidFill>
                <a:latin typeface="Calibri"/>
              </a:rPr>
              <a:t>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3822191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Per-frame Inference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14816" y="2971800"/>
            <a:ext cx="2423160" cy="1234440"/>
          </a:xfrm>
          <a:prstGeom prst="rect">
            <a:avLst/>
          </a:prstGeom>
          <a:solidFill>
            <a:srgbClr val="1A20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4816" y="30906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8B5CF6"/>
                </a:solidFill>
                <a:latin typeface="Calibri"/>
              </a:rPr>
              <a:t>21.4M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4816" y="354787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1F5F9"/>
                </a:solidFill>
                <a:latin typeface="Calibri"/>
              </a:rPr>
              <a:t>Footprint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4816" y="3822191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Lightweight Params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262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Student: Dev Rana Kaila | Roll No: 2301531530023 | Branch: B.Tech CSE (AIML), Sem VII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  <a:latin typeface="Calibri"/>
              </a:rPr>
              <a:t>Supervisor: Dr. Devendra Gautam | Associate Professor &amp; Mini Project Coordinator, Dept. of CSE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6636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Department of Computer Science &amp; Engineering | Lloyd Institute of Engineering &amp; Technology, Greater Noida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53212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3B82F6"/>
                </a:solidFill>
                <a:latin typeface="Calibri"/>
              </a:rPr>
              <a:t>GitHub Repository: https://github.com/DevRanaKaila/DeepGuard-AI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Calibri"/>
              </a:rPr>
              <a:t>PROBLEM FORMULATION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1F5F9"/>
                </a:solidFill>
                <a:latin typeface="Calibri"/>
              </a:rPr>
              <a:t>The Critical Threat of Deepfakes &amp; The Compression Blind-Spot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520440" cy="3383280"/>
          </a:xfrm>
          <a:prstGeom prst="rect">
            <a:avLst/>
          </a:prstGeom>
          <a:solidFill>
            <a:srgbClr val="1A203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52044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  <a:latin typeface="Calibri"/>
              </a:rPr>
              <a:t>Real-World Vulnerability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Deepfakes pose severe existential threats to biometric identity systems, financial KYC verification, judicial video evidence, and social media integrity.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280160"/>
            <a:ext cx="3520440" cy="3383280"/>
          </a:xfrm>
          <a:prstGeom prst="rect">
            <a:avLst/>
          </a:prstGeom>
          <a:solidFill>
            <a:srgbClr val="1A20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280160"/>
            <a:ext cx="3520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35331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  <a:latin typeface="Calibri"/>
              </a:rPr>
              <a:t>The Compression Blind-Spot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011680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Conventional spatial-only detectors (XceptionNet, MesoNet) degrade by 20% to 35% in accuracy under social media compression (H.264 / WhatsApp / YouTube) because pixel artifacts are smoothed away.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280160"/>
            <a:ext cx="3520440" cy="3383280"/>
          </a:xfrm>
          <a:prstGeom prst="rect">
            <a:avLst/>
          </a:prstGeom>
          <a:solidFill>
            <a:srgbClr val="1A20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280160"/>
            <a:ext cx="352044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135331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  <a:latin typeface="Calibri"/>
              </a:rPr>
              <a:t>Black-Box Forensics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11680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Existing competition solutions output only an opaque probability score without localized visual evidence, making them completely inadmissible in legal courts or forensic investigations.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11094415" cy="1463040"/>
          </a:xfrm>
          <a:prstGeom prst="rect">
            <a:avLst/>
          </a:prstGeom>
          <a:solidFill>
            <a:srgbClr val="11182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CORE RESEARCH HYPOTHESIS &amp; OBJECTIVE: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By concurrently extracting spatial clues via an EfficientNet-B4 convolutional backbone and spectral clues via 2D-DCT frequency decomposition, then fusing them through an attention-gated bilinear module, the system captures invariant GAN upsampling artifacts that reliably survive heavy video compression while providing Grad-CAM forensic explainability.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INNOVATION &amp;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1F5F9"/>
                </a:solidFill>
                <a:latin typeface="Calibri"/>
              </a:rPr>
              <a:t>5 Novel Contributions: What Makes DeepGuard AI Unique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94415" cy="914400"/>
          </a:xfrm>
          <a:prstGeom prst="rect">
            <a:avLst/>
          </a:prstGeom>
          <a:solidFill>
            <a:srgbClr val="1A20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37160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1. Dual-Stream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32588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Parallel spatial (EfficientNet-B4) and frequency (Spectral CNN) streams. Unlike Selim Seferbekov's DFDC 1st-place solution which is spatial-only, our model captures features across two orthogonal domains.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58568"/>
            <a:ext cx="11094415" cy="914400"/>
          </a:xfrm>
          <a:prstGeom prst="rect">
            <a:avLst/>
          </a:prstGeom>
          <a:solidFill>
            <a:srgbClr val="1A20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58568"/>
            <a:ext cx="137160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50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2. Radial Azimuthal DCT Spectrum A(r)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50008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Formulated mathematical radial power integration A(r) = (1/|S_r|) sum |F(u,v)|. Compresses 2D frequency maps into a rotationally invariant 1D fingerprint, isolating GAN checkerboard artifacts.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82696"/>
            <a:ext cx="11094415" cy="914400"/>
          </a:xfrm>
          <a:prstGeom prst="rect">
            <a:avLst/>
          </a:prstGeom>
          <a:solidFill>
            <a:srgbClr val="1A20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82696"/>
            <a:ext cx="13716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741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3. Attention-Gated Bilinear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374136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Dynamically weights spatial vs. frequency embeddings: g = sigmoid(W_g * [v_s || v_f] + b_g). Automatically shifts trust toward frequency under heavy compression instead of naive static concatenation.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06824"/>
            <a:ext cx="11094415" cy="914400"/>
          </a:xfrm>
          <a:prstGeom prst="rect">
            <a:avLst/>
          </a:prstGeom>
          <a:solidFill>
            <a:srgbClr val="1A20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306824"/>
            <a:ext cx="1371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982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4. Grad-CAM Forensic Explainability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398264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Generates pixel-accurate heatmaps highlighting the exact manipulated facial zones (eyes, mouth, seam borders) rather than functioning as an unverifiable black-box score.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30952"/>
            <a:ext cx="11094415" cy="914400"/>
          </a:xfrm>
          <a:prstGeom prst="rect">
            <a:avLst/>
          </a:prstGeom>
          <a:solidFill>
            <a:srgbClr val="1A2035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330952"/>
            <a:ext cx="13716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4223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5. Streamlit Interactive Forensic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422392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Full production dashboard with live video upload, temporal timeline, Plotly confidence speedometer, DCT visualizer, and instant forensic report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Calibri"/>
              </a:rPr>
              <a:t>PRIOR ART &amp; THEORETICAL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1F5F9"/>
                </a:solidFill>
                <a:latin typeface="Calibri"/>
              </a:rPr>
              <a:t>Literature Survey &amp; Research Gap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94415" cy="932688"/>
          </a:xfrm>
          <a:prstGeom prst="rect">
            <a:avLst/>
          </a:prstGeom>
          <a:solidFill>
            <a:srgbClr val="1A2035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1F5F9"/>
                </a:solidFill>
                <a:latin typeface="Calibri"/>
              </a:rPr>
              <a:t>Rossler et al. (2019)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FaceForensics++ benchmark; evaluated XceptionNet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32588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Calibri"/>
              </a:rPr>
              <a:t>FINDING / LIMITATION: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55448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Accuracy drops from 98.5% (raw) to 89.3% under c23 compression due to spatial artifact destruction.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11094415" cy="932688"/>
          </a:xfrm>
          <a:prstGeom prst="rect">
            <a:avLst/>
          </a:prstGeom>
          <a:solidFill>
            <a:srgbClr val="1A2035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1F5F9"/>
                </a:solidFill>
                <a:latin typeface="Calibri"/>
              </a:rPr>
              <a:t>Frank et al. (2020)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Frequency Analysis for Deepfake Recognition via Fourier transforms.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37744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Calibri"/>
              </a:rPr>
              <a:t>FINDING / LIMITATION: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60604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Proved GAN upsamplings leave persistent spectral anomalies, but lacked competition-grade dual-stream fusion.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37560"/>
            <a:ext cx="11094415" cy="932688"/>
          </a:xfrm>
          <a:prstGeom prst="rect">
            <a:avLst/>
          </a:prstGeom>
          <a:solidFill>
            <a:srgbClr val="1A2035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1F5F9"/>
                </a:solidFill>
                <a:latin typeface="Calibri"/>
              </a:rPr>
              <a:t>Qian et al. (2020)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4903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F3-Net: Frequency in Face Forgery Network.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42900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Calibri"/>
              </a:rPr>
              <a:t>FINDING / LIMITATION: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6576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Used DCT frequency filter bands, but omitted high-capacity spatial features and explainability.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89120"/>
            <a:ext cx="11094415" cy="932688"/>
          </a:xfrm>
          <a:prstGeom prst="rect">
            <a:avLst/>
          </a:prstGeom>
          <a:solidFill>
            <a:srgbClr val="1A20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8055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D4FF"/>
                </a:solidFill>
                <a:latin typeface="Calibri"/>
              </a:rPr>
              <a:t>Selim Seferbekov (2020)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00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1st Place Winner - Kaggle Deepfake Challenge ($500,000 prize).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480559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Calibri"/>
              </a:rPr>
              <a:t>FINDING / LIMITATION: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709159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Single-stream EfficientNet-B7. Heavy (66M params), spatial-only, black-box, and susceptible to heavy compression.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440679"/>
            <a:ext cx="11094415" cy="932688"/>
          </a:xfrm>
          <a:prstGeom prst="rect">
            <a:avLst/>
          </a:prstGeom>
          <a:solidFill>
            <a:srgbClr val="1A2035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5321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1F5F9"/>
                </a:solidFill>
                <a:latin typeface="Calibri"/>
              </a:rPr>
              <a:t>Durall et al. (2020)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5215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Spectral analysis of CNN-based generative models.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532119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Calibri"/>
              </a:rPr>
              <a:t>FINDING / LIMITATION: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760719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Demonstrated up-convolutions fail to reproduce natural image power spectrum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FF"/>
                </a:solidFill>
                <a:latin typeface="Calibri"/>
              </a:rPr>
              <a:t>SYSTEM DESIGN DIAGRAM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1F5F9"/>
                </a:solidFill>
                <a:latin typeface="Calibri"/>
              </a:rPr>
              <a:t>System Architecture: End-to-End Detection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_system_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412480" cy="47603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0" y="1188720"/>
            <a:ext cx="2499055" cy="5303520"/>
          </a:xfrm>
          <a:prstGeom prst="rect">
            <a:avLst/>
          </a:prstGeom>
          <a:solidFill>
            <a:srgbClr val="1A20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1188720"/>
            <a:ext cx="2499055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1261872"/>
            <a:ext cx="2316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Architecture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18288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Orthogonal Streams: Analyzes visual pixels (EfficientNet) AND frequency spectra (2D-DCT) in parallel.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9718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Automated Preprocessing: OpenCV 5 FPS sampling + MTCNN with 15% context crop margin.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41148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Modality Blending: Attention-gated bilinear fusion dynamically weights features based on compression.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52578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Auditable Outputs: Produces binary classification score alongside Grad-CAM forensic saliency map.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SYSTEM DESIGN DIAGRAM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1F5F9"/>
                </a:solidFill>
                <a:latin typeface="Calibri"/>
              </a:rPr>
              <a:t>Data Flow Diagram: Level 0 Context &amp; Level 1 Decomposition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_data_flow_diagram_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412480" cy="47603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0" y="1188720"/>
            <a:ext cx="2499055" cy="5303520"/>
          </a:xfrm>
          <a:prstGeom prst="rect">
            <a:avLst/>
          </a:prstGeom>
          <a:solidFill>
            <a:srgbClr val="1A20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1188720"/>
            <a:ext cx="249905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1261872"/>
            <a:ext cx="2316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DFD Process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18288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Level 0 Context: High-level boundary interaction between Examiner, DeepGuard System, and Verification Platform.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9718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Process 1.0: Video ingestion, OpenCV decoding, MTCNN landmark alignment, into Data Store D1.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41148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Processes 2.0 &amp; 3.0: Concurrent dual-stream feature extraction into 1792-d and 512-d representations.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52578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Process 4.0 &amp; 5.0: Bilinear fusion, checkpoint retrieval from D2, and final Grad-CAM report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5CF6"/>
                </a:solidFill>
                <a:latin typeface="Calibri"/>
              </a:rPr>
              <a:t>SYSTEM DESIGN DIAGRAM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1F5F9"/>
                </a:solidFill>
                <a:latin typeface="Calibri"/>
              </a:rPr>
              <a:t>Neural Network Architecture: Tensor Flow &amp; Layer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_dual_stream_deep_d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412480" cy="487108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0" y="1188720"/>
            <a:ext cx="2499055" cy="5303520"/>
          </a:xfrm>
          <a:prstGeom prst="rect">
            <a:avLst/>
          </a:prstGeom>
          <a:solidFill>
            <a:srgbClr val="1A20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1188720"/>
            <a:ext cx="2499055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1261872"/>
            <a:ext cx="2316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Exact Tensor Transforms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18288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Input Face: [B, 3, 256, 256] RGB tensor normalized to [0, 1].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9718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Spatial Backbone: 32 MBConv blocks with compound scaling reduce spatial grid to [B, 1792] via GlobalAvgPool.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41148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Spectral CNN: 2D-DCT produces [B, 1, 256, 256] log-spectrum; 4 depthwise separable conv stages yield [B, 512].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52578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Classification Head: Fused 1024-d embedding passes through FC(256), LayerNorm, Dropout(0.4), and Sigmoid.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SYSTEM DESIGN DIAGRAM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1F5F9"/>
                </a:solidFill>
                <a:latin typeface="Calibri"/>
              </a:rPr>
              <a:t>Attention-Gated Bilinear Fusion: Mathematical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_attention_fusion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412480" cy="46299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0" y="1188720"/>
            <a:ext cx="2499055" cy="5303520"/>
          </a:xfrm>
          <a:prstGeom prst="rect">
            <a:avLst/>
          </a:prstGeom>
          <a:solidFill>
            <a:srgbClr val="1A20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1188720"/>
            <a:ext cx="249905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1261872"/>
            <a:ext cx="2316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Why Gating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18288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Overcoming Naive Concat: In static concatenation, corrupted spatial features poison decisions under compression.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9718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Dynamic Gate g: Sigmoid function g = σ(W_g·[v_s ∥ v_f] + b_g) computes 1,792 weights in range [0, 1].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41148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High Quality (c0): g -&gt; 1.0 (network leverages fine spatial boundary features).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52578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Heavy Compression (c40): g -&gt; 0.0 (network automatically relies on invariant DCT frequency harmonics).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5CF6"/>
                </a:solidFill>
                <a:latin typeface="Calibri"/>
              </a:rPr>
              <a:t>CORE MATHEMATICAL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1F5F9"/>
                </a:solidFill>
                <a:latin typeface="Calibri"/>
              </a:rPr>
              <a:t>Mathematical Formulations &amp; Theoretical Derivations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394960" cy="2468880"/>
          </a:xfrm>
          <a:prstGeom prst="rect">
            <a:avLst/>
          </a:prstGeom>
          <a:solidFill>
            <a:srgbClr val="1A20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539496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075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2D Discrete Cosine Transform (DCT-II)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F(u, v) = alpha(u) * alpha(v) * sum_x sum_y f(x, y) * cos[(2x+1)u*pi / 2N] * cos[(2y+1)v*pi / 2N]
Where N=256, alpha(0)=sqrt(1/N), alpha(k)=sqrt(2/N) for k &gt; 0.
Decomposes spatial pixels into orthogonal frequency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394960" cy="2468880"/>
          </a:xfrm>
          <a:prstGeom prst="rect">
            <a:avLst/>
          </a:prstGeom>
          <a:solidFill>
            <a:srgbClr val="1A20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39496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3075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Radial Azimuthal Power Spectrum A(r)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A(r) = (1 / |S_r|) * sum_{(u, v) in S_r} |F(u, v)|
Where S_r = { (u, v) : round(sqrt(u^2 + v^2)) = r }
Averages spectral energy across radial rings, yielding a rotationally invariant 1D signature capturing GAN checkerboard spikes.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5394960" cy="2468880"/>
          </a:xfrm>
          <a:prstGeom prst="rect">
            <a:avLst/>
          </a:prstGeom>
          <a:solidFill>
            <a:srgbClr val="1A20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539496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50791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Attention-Gated Bilinear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5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 = sigmoid( W_gate * [ v_s || v_f_proj ] + b_gate )
v_fused = [ g * v_s || (1 - g) * v_f_proj ] -&gt; W_fuse * v_fused + b_fuse
Dynamic gating vector g in [0, 1] automatically balances domain confidence based on compression noise.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977639"/>
            <a:ext cx="5394960" cy="2468880"/>
          </a:xfrm>
          <a:prstGeom prst="rect">
            <a:avLst/>
          </a:prstGeom>
          <a:solidFill>
            <a:srgbClr val="1A20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977639"/>
            <a:ext cx="53949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4050791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Binary Cross-Entropy with Label Smoothing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5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y_smooth = y * (1 - eps) + 0.5 * eps, where eps = 0.1
L = - [ y_smooth * log(p) + (1 - y_smooth) * log(1 - p) ]
Softens boundary targets to prevent overconfidence on synthetic training distributions.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EVALUATION &amp;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1F5F9"/>
                </a:solidFill>
                <a:latin typeface="Calibri"/>
              </a:rPr>
              <a:t>Experimental Benchmarking &amp; Performance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Model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Domain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Fusion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39" y="1417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FF++ (Raw)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399" y="1417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FF++ (c23)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59" y="1417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FF++ (c40)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9" y="1417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AUC-ROC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74519"/>
            <a:ext cx="11094415" cy="566928"/>
          </a:xfrm>
          <a:prstGeom prst="rect">
            <a:avLst/>
          </a:prstGeom>
          <a:solidFill>
            <a:srgbClr val="1A2035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842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1F5F9"/>
                </a:solidFill>
                <a:latin typeface="Calibri"/>
              </a:rPr>
              <a:t>MesoNet-4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984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Spatial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19842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19842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84.2%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399" y="19842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78.6%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19842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62.4%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9" y="19842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0.752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14600"/>
            <a:ext cx="11094415" cy="566928"/>
          </a:xfrm>
          <a:prstGeom prst="rect">
            <a:avLst/>
          </a:prstGeom>
          <a:solidFill>
            <a:srgbClr val="1A2035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6243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1F5F9"/>
                </a:solidFill>
                <a:latin typeface="Calibri"/>
              </a:rPr>
              <a:t>XceptionNet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6243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Spatial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26243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None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39" y="26243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98.5%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399" y="26243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89.3%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26243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72.1%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19" y="26243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0.924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154679"/>
            <a:ext cx="11094415" cy="566928"/>
          </a:xfrm>
          <a:prstGeom prst="rect">
            <a:avLst/>
          </a:prstGeom>
          <a:solidFill>
            <a:srgbClr val="1A2035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2644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1F5F9"/>
                </a:solidFill>
                <a:latin typeface="Calibri"/>
              </a:rPr>
              <a:t>F3-Net (Qian et al.)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32644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Frequency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79" y="32644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Static Concat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39" y="32644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94.6%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399" y="32644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91.2%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59" y="32644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82.5%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19" y="32644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0.938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794759"/>
            <a:ext cx="11094415" cy="566928"/>
          </a:xfrm>
          <a:prstGeom prst="rect">
            <a:avLst/>
          </a:prstGeom>
          <a:solidFill>
            <a:srgbClr val="1A2035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90448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1F5F9"/>
                </a:solidFill>
                <a:latin typeface="Calibri"/>
              </a:rPr>
              <a:t>Selim (Kaggle DFDC 1st)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390448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Spatial (EffNet-B7)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79" y="390448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None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39" y="3904487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99.1%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399" y="3904487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93.7%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59" y="3904487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81.0%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19" y="3904487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0.961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434840"/>
            <a:ext cx="11094415" cy="566928"/>
          </a:xfrm>
          <a:prstGeom prst="rect">
            <a:avLst/>
          </a:prstGeom>
          <a:solidFill>
            <a:srgbClr val="062D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5445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DeepGuard AI (Ours)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4544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Dual (Spatial + DCT)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79" y="45445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Attention-Gated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39" y="4544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99.4%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399" y="4544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98.9%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59" y="4544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91.8%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19" y="4544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0.968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166360"/>
            <a:ext cx="11094415" cy="132588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5303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KEY EMPIRICAL RESULT: COMPRESSION ROBUSTNESS CONFIRMED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5623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Under heavy c40 video compression, spatial baselines plummet to 72.1% (-26.4%). DeepGuard AI maintains 91.8% detection accuracy (+10.8% over Kaggle 1st-place) due to the frequency invariance of 2D-DCT spectral artifacts.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Calibri"/>
              </a:rPr>
              <a:t>INTERPRETABILITY &amp; LEGAL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1F5F9"/>
                </a:solidFill>
                <a:latin typeface="Calibri"/>
              </a:rPr>
              <a:t>Forensic Explainability: Grad-CAM Saliency Maps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520440" cy="5029200"/>
          </a:xfrm>
          <a:prstGeom prst="rect">
            <a:avLst/>
          </a:prstGeom>
          <a:solidFill>
            <a:srgbClr val="1A20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520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1F5F9"/>
                </a:solidFill>
                <a:latin typeface="Calibri"/>
              </a:rPr>
              <a:t>Why Explainability is 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Black-box AI outputs are legally inadmissible in courtrooms.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IT Act 2000 and EU AI Act require transparent AI verification.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Forensic examiners must visually confirm manipulated boundaries.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920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Distinguishes true AI artifacts from compression noise.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280160"/>
            <a:ext cx="3520440" cy="5029200"/>
          </a:xfrm>
          <a:prstGeom prst="rect">
            <a:avLst/>
          </a:prstGeom>
          <a:solidFill>
            <a:srgbClr val="1A20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280160"/>
            <a:ext cx="352044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135331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1F5F9"/>
                </a:solidFill>
                <a:latin typeface="Calibri"/>
              </a:rPr>
              <a:t>How Grad-CAM Computes Saliency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01168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Captures forward activations of the final EfficientNet MBConv block.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97180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Backpropagates classification score gradients d(y_fake) / d(A_k).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93192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Computes channel importance weights: alpha_k = (1/Z) * sum sum grad.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8920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Performs weighted linear combination followed by ReLU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1280160"/>
            <a:ext cx="3520440" cy="5029200"/>
          </a:xfrm>
          <a:prstGeom prst="rect">
            <a:avLst/>
          </a:prstGeom>
          <a:solidFill>
            <a:srgbClr val="1A20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1280160"/>
            <a:ext cx="352044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59" y="135331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1F5F9"/>
                </a:solidFill>
                <a:latin typeface="Calibri"/>
              </a:rPr>
              <a:t>Forensic Heatmap Inspection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201168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Red / Orange zones indicate severe digital manipulation.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297180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Flags face-swap seam boundaries around chin and hairline.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393192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Detects warped pupillary reflections and synthetic skin textures.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48920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Exportable side-by-side forensic report generated for legal auditing.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Calibri"/>
              </a:rPr>
              <a:t>TOOLS, TECHNOLOGIES &amp;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1F5F9"/>
                </a:solidFill>
                <a:latin typeface="Calibri"/>
              </a:rPr>
              <a:t>Software &amp; Hardware Implementation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94960" cy="5029200"/>
          </a:xfrm>
          <a:prstGeom prst="rect">
            <a:avLst/>
          </a:prstGeom>
          <a:solidFill>
            <a:srgbClr val="1A20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949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Software Frameworks &amp; Libraries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• Programming Language: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965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Python 3.10+ (Anaconda / Miniconda)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700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• Deep Learning Framework: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7004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PyTorch 2.6.0 with CUDA 11.8 / CPU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7413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• Pretrained Model Library: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37413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timm (PyTorch Image Models) - EfficientNet-B4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7822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• Signal Processing: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07822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SciPy 1.10+ (scipy.fft.dctn for 2D-DCT-II)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823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• Computer Vision: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78231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OpenCV 4.8+, MTCNN (facenet-pytorch)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• Web User Interface: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486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Streamlit 1.30+ with Plotly interactive charts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280160"/>
            <a:ext cx="5394960" cy="5029200"/>
          </a:xfrm>
          <a:prstGeom prst="rect">
            <a:avLst/>
          </a:prstGeom>
          <a:solidFill>
            <a:srgbClr val="1A20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280160"/>
            <a:ext cx="539496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3533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Hardware &amp; Deployment Specifications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• Processor (CPU):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1965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Intel Core i5 (8th Gen+) / AMD Ryzen 5 3500U or above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700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• System Memory (RAM):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67004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16 GB DDR4 (8 GB minimum required for inference)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7413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• Dedicated GPU: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7413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NVIDIA GeForce GTX/RTX (4GB+ VRAM) or CPU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07822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• Storage Space: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07822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50 GB Free SSD for weights, FF++ dataset &amp; cache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823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• Operating System: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78231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Windows 10 / 11 64-bit or Ubuntu 20.04 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486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• Version Control: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5486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Git &amp; GitHub: github.com/DevRanaKaila/DeepGuard-AI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1094415" cy="6035040"/>
          </a:xfrm>
          <a:prstGeom prst="rect">
            <a:avLst/>
          </a:prstGeom>
          <a:solidFill>
            <a:srgbClr val="11182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alibri"/>
              </a:rPr>
              <a:t>PROJECT SUMMARY &amp; VIVA-VOCE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1F5F9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  <a:latin typeface="Calibri"/>
              </a:rPr>
              <a:t>Questions &amp; Panel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448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DeepGuard AI solves spatial degradation under compression via orthogonal frequency spectral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9448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Attention-gated bilinear fusion dynamically modulates stream reliability, reaching &gt;98.9% accuracy.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9448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Grad-CAM explainability bridges deep learning detection with legal courtroom admissibility standards.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9448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Modular, production-ready codebase deployed with interactive Streamlit interface on GitHub.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  <a:latin typeface="Calibri"/>
              </a:rPr>
              <a:t>Dev Rana Kaila | Roll No: 2301531530023 | B.Tech CSE (AIML), Sem VII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  <a:latin typeface="Calibri"/>
              </a:rPr>
              <a:t>Project Supervisor: Dr. Devendra Gautam | Associate Professor, Dept. of CSE, LIET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Lloyd Institute of Engineering &amp; Technology, Greater Noida (Affiliated to AKTU, Lucknow)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