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F8C752-C599-43E0-AF3E-0C5C76907463}">
  <a:tblStyle styleId="{D8F8C752-C599-43E0-AF3E-0C5C7690746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5" name="Shape 15"/>
        <p:cNvGrpSpPr/>
        <p:nvPr/>
      </p:nvGrpSpPr>
      <p:grpSpPr>
        <a:xfrm>
          <a:off x="0" y="0"/>
          <a:ext cx="0" cy="0"/>
          <a:chOff x="0" y="0"/>
          <a:chExt cx="0" cy="0"/>
        </a:xfrm>
      </p:grpSpPr>
      <p:sp>
        <p:nvSpPr>
          <p:cNvPr id="16" name="Google Shape;16;p3"/>
          <p:cNvSpPr/>
          <p:nvPr/>
        </p:nvSpPr>
        <p:spPr>
          <a:xfrm>
            <a:off x="10424160" y="-1463040"/>
            <a:ext cx="3108960" cy="3108960"/>
          </a:xfrm>
          <a:prstGeom prst="ellipse">
            <a:avLst/>
          </a:prstGeom>
          <a:solidFill>
            <a:srgbClr val="1C7293">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97280" y="5669280"/>
            <a:ext cx="2194560" cy="2194560"/>
          </a:xfrm>
          <a:prstGeom prst="ellipse">
            <a:avLst/>
          </a:prstGeom>
          <a:solidFill>
            <a:srgbClr val="CFE3E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914400" y="1691640"/>
            <a:ext cx="10360152"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2700" u="none" cap="none" strike="noStrike">
                <a:solidFill>
                  <a:srgbClr val="FFFFFF"/>
                </a:solidFill>
                <a:latin typeface="Calibri"/>
                <a:ea typeface="Calibri"/>
                <a:cs typeface="Calibri"/>
                <a:sym typeface="Calibri"/>
              </a:rPr>
              <a:t>LLOYD INSTITUTE OF ENGINEERING &amp; TECHNOLOGY</a:t>
            </a:r>
            <a:endParaRPr b="0" i="0" sz="2700" u="none" cap="none" strike="noStrike">
              <a:solidFill>
                <a:schemeClr val="dk1"/>
              </a:solidFill>
              <a:latin typeface="Calibri"/>
              <a:ea typeface="Calibri"/>
              <a:cs typeface="Calibri"/>
              <a:sym typeface="Calibri"/>
            </a:endParaRPr>
          </a:p>
        </p:txBody>
      </p:sp>
      <p:sp>
        <p:nvSpPr>
          <p:cNvPr id="19" name="Google Shape;19;p3"/>
          <p:cNvSpPr/>
          <p:nvPr/>
        </p:nvSpPr>
        <p:spPr>
          <a:xfrm>
            <a:off x="914400" y="2114821"/>
            <a:ext cx="103602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FE3EE"/>
              </a:buClr>
              <a:buSzPts val="1250"/>
              <a:buFont typeface="Calibri"/>
              <a:buNone/>
            </a:pPr>
            <a:r>
              <a:rPr b="0" i="0" lang="en-US" sz="1650" u="none" cap="none" strike="noStrike">
                <a:solidFill>
                  <a:srgbClr val="CFE3EE"/>
                </a:solidFill>
                <a:latin typeface="Calibri"/>
                <a:ea typeface="Calibri"/>
                <a:cs typeface="Calibri"/>
                <a:sym typeface="Calibri"/>
              </a:rPr>
              <a:t>Greater Noida  |  Department of Computer Science &amp; Engineering</a:t>
            </a:r>
            <a:endParaRPr b="0" i="0" sz="1650" u="none" cap="none" strike="noStrike">
              <a:solidFill>
                <a:schemeClr val="dk1"/>
              </a:solidFill>
              <a:latin typeface="Calibri"/>
              <a:ea typeface="Calibri"/>
              <a:cs typeface="Calibri"/>
              <a:sym typeface="Calibri"/>
            </a:endParaRPr>
          </a:p>
        </p:txBody>
      </p:sp>
      <p:sp>
        <p:nvSpPr>
          <p:cNvPr id="20" name="Google Shape;20;p3"/>
          <p:cNvSpPr/>
          <p:nvPr/>
        </p:nvSpPr>
        <p:spPr>
          <a:xfrm>
            <a:off x="914400" y="2715775"/>
            <a:ext cx="103602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FB6CE"/>
              </a:buClr>
              <a:buSzPts val="1200"/>
              <a:buFont typeface="Calibri"/>
              <a:buNone/>
            </a:pPr>
            <a:r>
              <a:rPr b="1" i="0" lang="en-US" sz="2000" u="none" cap="none" strike="noStrike">
                <a:solidFill>
                  <a:srgbClr val="6FB6CE"/>
                </a:solidFill>
                <a:latin typeface="Calibri"/>
                <a:ea typeface="Calibri"/>
                <a:cs typeface="Calibri"/>
                <a:sym typeface="Calibri"/>
              </a:rPr>
              <a:t>B.TECH FINAL YEAR MAJOR PROJECT  ·  BCS753</a:t>
            </a:r>
            <a:endParaRPr b="0" i="0" sz="2000" u="none" cap="none" strike="noStrike">
              <a:solidFill>
                <a:schemeClr val="dk1"/>
              </a:solidFill>
              <a:latin typeface="Calibri"/>
              <a:ea typeface="Calibri"/>
              <a:cs typeface="Calibri"/>
              <a:sym typeface="Calibri"/>
            </a:endParaRPr>
          </a:p>
        </p:txBody>
      </p:sp>
      <p:sp>
        <p:nvSpPr>
          <p:cNvPr id="21" name="Google Shape;21;p3"/>
          <p:cNvSpPr/>
          <p:nvPr/>
        </p:nvSpPr>
        <p:spPr>
          <a:xfrm>
            <a:off x="1280160" y="3200400"/>
            <a:ext cx="9628632" cy="1371600"/>
          </a:xfrm>
          <a:prstGeom prst="roundRect">
            <a:avLst>
              <a:gd fmla="val 8000" name="adj"/>
            </a:avLst>
          </a:prstGeom>
          <a:solidFill>
            <a:srgbClr val="FFFFFF">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1463040" y="3200400"/>
            <a:ext cx="9262872" cy="1371600"/>
          </a:xfrm>
          <a:prstGeom prst="rect">
            <a:avLst/>
          </a:prstGeom>
          <a:noFill/>
          <a:ln>
            <a:noFill/>
          </a:ln>
        </p:spPr>
        <p:txBody>
          <a:bodyPr anchorCtr="0" anchor="ctr" bIns="45700" lIns="91425" spcFirstLastPara="1" rIns="91425" wrap="square" tIns="45700">
            <a:noAutofit/>
          </a:bodyPr>
          <a:lstStyle/>
          <a:p>
            <a:pPr algn="l"/>
            <a:r>
              <a:rPr sz="2000" b="1">
                <a:solidFill>
                  <a:srgbClr val="FFFFFF"/>
                </a:solidFill>
                <a:latin typeface="Calibri"/>
              </a:rPr>
              <a:t>DUAL-STREAM SPATIAL AND FREQUENCY-DOMAIN DEEPFAKE VIDEO DETECTION USING EFFICIENTNET-B4 AND DISCRETE COSINE TRANSFORM (DCT)</a:t>
            </a:r>
          </a:p>
        </p:txBody>
      </p:sp>
      <p:sp>
        <p:nvSpPr>
          <p:cNvPr id="23" name="Google Shape;23;p3"/>
          <p:cNvSpPr/>
          <p:nvPr/>
        </p:nvSpPr>
        <p:spPr>
          <a:xfrm>
            <a:off x="914400" y="4709160"/>
            <a:ext cx="10360152" cy="320040"/>
          </a:xfrm>
          <a:prstGeom prst="rect">
            <a:avLst/>
          </a:prstGeom>
          <a:noFill/>
          <a:ln>
            <a:noFill/>
          </a:ln>
        </p:spPr>
        <p:txBody>
          <a:bodyPr anchorCtr="0" anchor="ctr" bIns="45700" lIns="91425" spcFirstLastPara="1" rIns="91425" wrap="square" tIns="45700">
            <a:noAutofit/>
          </a:bodyPr>
          <a:lstStyle/>
          <a:p>
            <a:r>
              <a:rPr sz="1300">
                <a:solidFill>
                  <a:srgbClr val="C8D7E6"/>
                </a:solidFill>
                <a:latin typeface="Calibri"/>
              </a:rPr>
              <a:t>Project Presentation - I   |   Session 2026-27</a:t>
            </a:r>
          </a:p>
        </p:txBody>
      </p:sp>
      <p:cxnSp>
        <p:nvCxnSpPr>
          <p:cNvPr id="24" name="Google Shape;24;p3"/>
          <p:cNvCxnSpPr/>
          <p:nvPr/>
        </p:nvCxnSpPr>
        <p:spPr>
          <a:xfrm>
            <a:off x="6094476" y="5257800"/>
            <a:ext cx="0" cy="1188720"/>
          </a:xfrm>
          <a:prstGeom prst="straightConnector1">
            <a:avLst/>
          </a:prstGeom>
          <a:noFill/>
          <a:ln cap="flat" cmpd="sng" w="9525">
            <a:solidFill>
              <a:srgbClr val="FFFFFF">
                <a:alpha val="30196"/>
              </a:srgbClr>
            </a:solidFill>
            <a:prstDash val="solid"/>
            <a:round/>
            <a:headEnd len="sm" w="sm" type="none"/>
            <a:tailEnd len="sm" w="sm" type="none"/>
          </a:ln>
        </p:spPr>
      </p:cxnSp>
      <p:sp>
        <p:nvSpPr>
          <p:cNvPr id="25" name="Google Shape;25;p3"/>
          <p:cNvSpPr/>
          <p:nvPr/>
        </p:nvSpPr>
        <p:spPr>
          <a:xfrm>
            <a:off x="914400" y="5303520"/>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FB6CE"/>
              </a:buClr>
              <a:buSzPts val="1050"/>
              <a:buFont typeface="Calibri"/>
              <a:buNone/>
            </a:pPr>
            <a:r>
              <a:rPr b="1" i="0" lang="en-US" sz="1150" u="none" cap="none" strike="noStrike">
                <a:solidFill>
                  <a:srgbClr val="6FB6CE"/>
                </a:solidFill>
                <a:latin typeface="Calibri"/>
                <a:ea typeface="Calibri"/>
                <a:cs typeface="Calibri"/>
                <a:sym typeface="Calibri"/>
              </a:rPr>
              <a:t>GUIDE NAME</a:t>
            </a:r>
            <a:endParaRPr b="0" i="0" sz="1250" u="none" cap="none" strike="noStrike">
              <a:solidFill>
                <a:schemeClr val="dk1"/>
              </a:solidFill>
              <a:latin typeface="Calibri"/>
              <a:ea typeface="Calibri"/>
              <a:cs typeface="Calibri"/>
              <a:sym typeface="Calibri"/>
            </a:endParaRPr>
          </a:p>
        </p:txBody>
      </p:sp>
      <p:sp>
        <p:nvSpPr>
          <p:cNvPr id="26" name="Google Shape;26;p3"/>
          <p:cNvSpPr/>
          <p:nvPr/>
        </p:nvSpPr>
        <p:spPr>
          <a:xfrm>
            <a:off x="914400" y="5577840"/>
            <a:ext cx="4480560" cy="365760"/>
          </a:xfrm>
          <a:prstGeom prst="rect">
            <a:avLst/>
          </a:prstGeom>
          <a:noFill/>
          <a:ln>
            <a:noFill/>
          </a:ln>
        </p:spPr>
        <p:txBody>
          <a:bodyPr anchorCtr="0" anchor="ctr" bIns="45700" lIns="91425" spcFirstLastPara="1" rIns="91425" wrap="square" tIns="45700">
            <a:noAutofit/>
          </a:bodyPr>
          <a:lstStyle/>
          <a:p>
            <a:r>
              <a:rPr sz="1300" b="1">
                <a:solidFill>
                  <a:srgbClr val="FFFFFF"/>
                </a:solidFill>
                <a:latin typeface="Calibri"/>
              </a:rPr>
              <a:t>Dr. Devendra Gautam</a:t>
            </a:r>
          </a:p>
        </p:txBody>
      </p:sp>
      <p:sp>
        <p:nvSpPr>
          <p:cNvPr id="27" name="Google Shape;27;p3"/>
          <p:cNvSpPr/>
          <p:nvPr/>
        </p:nvSpPr>
        <p:spPr>
          <a:xfrm>
            <a:off x="914400" y="5989320"/>
            <a:ext cx="4480560" cy="320040"/>
          </a:xfrm>
          <a:prstGeom prst="rect">
            <a:avLst/>
          </a:prstGeom>
          <a:noFill/>
          <a:ln>
            <a:noFill/>
          </a:ln>
        </p:spPr>
        <p:txBody>
          <a:bodyPr anchorCtr="0" anchor="ctr" bIns="45700" lIns="91425" spcFirstLastPara="1" rIns="91425" wrap="square" tIns="45700">
            <a:noAutofit/>
          </a:bodyPr>
          <a:lstStyle/>
          <a:p>
            <a:r>
              <a:rPr sz="1100">
                <a:solidFill>
                  <a:srgbClr val="B4C8DC"/>
                </a:solidFill>
                <a:latin typeface="Calibri"/>
              </a:rPr>
              <a:t>Associate Professor, Department of CSE</a:t>
            </a:r>
          </a:p>
        </p:txBody>
      </p:sp>
      <p:sp>
        <p:nvSpPr>
          <p:cNvPr id="28" name="Google Shape;28;p3"/>
          <p:cNvSpPr/>
          <p:nvPr/>
        </p:nvSpPr>
        <p:spPr>
          <a:xfrm>
            <a:off x="6766560" y="530352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FB6CE"/>
              </a:buClr>
              <a:buSzPts val="1050"/>
              <a:buFont typeface="Calibri"/>
              <a:buNone/>
            </a:pPr>
            <a:r>
              <a:rPr b="1" i="0" lang="en-US" sz="1250" u="none" cap="none" strike="noStrike">
                <a:solidFill>
                  <a:srgbClr val="6FB6CE"/>
                </a:solidFill>
                <a:latin typeface="Calibri"/>
                <a:ea typeface="Calibri"/>
                <a:cs typeface="Calibri"/>
                <a:sym typeface="Calibri"/>
              </a:rPr>
              <a:t>SUBMITTED BY</a:t>
            </a:r>
            <a:endParaRPr b="0" i="0" sz="1250" u="none" cap="none" strike="noStrike">
              <a:solidFill>
                <a:schemeClr val="dk1"/>
              </a:solidFill>
              <a:latin typeface="Calibri"/>
              <a:ea typeface="Calibri"/>
              <a:cs typeface="Calibri"/>
              <a:sym typeface="Calibri"/>
            </a:endParaRPr>
          </a:p>
        </p:txBody>
      </p:sp>
      <p:sp>
        <p:nvSpPr>
          <p:cNvPr id="29" name="Google Shape;29;p3"/>
          <p:cNvSpPr/>
          <p:nvPr/>
        </p:nvSpPr>
        <p:spPr>
          <a:xfrm>
            <a:off x="6766560" y="5577840"/>
            <a:ext cx="4572000" cy="1005840"/>
          </a:xfrm>
          <a:prstGeom prst="rect">
            <a:avLst/>
          </a:prstGeom>
          <a:noFill/>
          <a:ln>
            <a:noFill/>
          </a:ln>
        </p:spPr>
        <p:txBody>
          <a:bodyPr anchorCtr="0" anchor="ctr" bIns="45700" lIns="91425" spcFirstLastPara="1" rIns="91425" wrap="square" tIns="45700">
            <a:noAutofit/>
          </a:bodyPr>
          <a:lstStyle/>
          <a:p>
            <a:r>
              <a:rPr sz="1200">
                <a:solidFill>
                  <a:srgbClr val="FFFFFF"/>
                </a:solidFill>
                <a:latin typeface="Calibri"/>
              </a:rPr>
              <a:t>Dev Rana Kaila   |   Roll No. 2301531530023   |   B.Tech CSE (AIML), 7th Sem, Sec A</a:t>
            </a:r>
          </a:p>
        </p:txBody>
      </p:sp>
      <p:pic>
        <p:nvPicPr>
          <p:cNvPr id="30" name="Google Shape;30;p3" title="LLOYD-logo.png"/>
          <p:cNvPicPr preferRelativeResize="0"/>
          <p:nvPr/>
        </p:nvPicPr>
        <p:blipFill>
          <a:blip r:embed="rId3">
            <a:alphaModFix/>
          </a:blip>
          <a:stretch>
            <a:fillRect/>
          </a:stretch>
        </p:blipFill>
        <p:spPr>
          <a:xfrm>
            <a:off x="5591563" y="424800"/>
            <a:ext cx="1005835" cy="998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5" name="Shape 35"/>
        <p:cNvGrpSpPr/>
        <p:nvPr/>
      </p:nvGrpSpPr>
      <p:grpSpPr>
        <a:xfrm>
          <a:off x="0" y="0"/>
          <a:ext cx="0" cy="0"/>
          <a:chOff x="0" y="0"/>
          <a:chExt cx="0" cy="0"/>
        </a:xfrm>
      </p:grpSpPr>
      <p:sp>
        <p:nvSpPr>
          <p:cNvPr id="36" name="Google Shape;36;p4"/>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01</a:t>
            </a:r>
            <a:endParaRPr b="0" i="0" sz="1600" u="none" cap="none" strike="noStrike">
              <a:solidFill>
                <a:schemeClr val="dk1"/>
              </a:solidFill>
              <a:latin typeface="Calibri"/>
              <a:ea typeface="Calibri"/>
              <a:cs typeface="Calibri"/>
              <a:sym typeface="Calibri"/>
            </a:endParaRPr>
          </a:p>
        </p:txBody>
      </p:sp>
      <p:sp>
        <p:nvSpPr>
          <p:cNvPr id="40" name="Google Shape;40;p4"/>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OVERVIEW</a:t>
            </a:r>
            <a:endParaRPr b="0" i="0" sz="1100" u="none" cap="none" strike="noStrike">
              <a:solidFill>
                <a:schemeClr val="dk1"/>
              </a:solidFill>
              <a:latin typeface="Calibri"/>
              <a:ea typeface="Calibri"/>
              <a:cs typeface="Calibri"/>
              <a:sym typeface="Calibri"/>
            </a:endParaRPr>
          </a:p>
        </p:txBody>
      </p:sp>
      <p:sp>
        <p:nvSpPr>
          <p:cNvPr id="41" name="Google Shape;41;p4"/>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Presentation Agenda</a:t>
            </a:r>
            <a:endParaRPr b="0" i="0" sz="3000" u="none" cap="none" strike="noStrike">
              <a:solidFill>
                <a:schemeClr val="dk1"/>
              </a:solidFill>
              <a:latin typeface="Calibri"/>
              <a:ea typeface="Calibri"/>
              <a:cs typeface="Calibri"/>
              <a:sym typeface="Calibri"/>
            </a:endParaRPr>
          </a:p>
        </p:txBody>
      </p:sp>
      <p:sp>
        <p:nvSpPr>
          <p:cNvPr id="42" name="Google Shape;42;p4"/>
          <p:cNvSpPr/>
          <p:nvPr/>
        </p:nvSpPr>
        <p:spPr>
          <a:xfrm>
            <a:off x="914400" y="1600200"/>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914400" y="16002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4" name="Google Shape;44;p4"/>
          <p:cNvSpPr/>
          <p:nvPr/>
        </p:nvSpPr>
        <p:spPr>
          <a:xfrm>
            <a:off x="1536192" y="1581912"/>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Problem Statement</a:t>
            </a:r>
            <a:endParaRPr b="0" i="0" sz="1600" u="none" cap="none" strike="noStrike">
              <a:solidFill>
                <a:schemeClr val="dk1"/>
              </a:solidFill>
              <a:latin typeface="Calibri"/>
              <a:ea typeface="Calibri"/>
              <a:cs typeface="Calibri"/>
              <a:sym typeface="Calibri"/>
            </a:endParaRPr>
          </a:p>
        </p:txBody>
      </p:sp>
      <p:sp>
        <p:nvSpPr>
          <p:cNvPr id="45" name="Google Shape;45;p4"/>
          <p:cNvSpPr/>
          <p:nvPr/>
        </p:nvSpPr>
        <p:spPr>
          <a:xfrm>
            <a:off x="914400" y="2258568"/>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914400" y="225856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1536192" y="2240280"/>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Objectives</a:t>
            </a:r>
            <a:endParaRPr b="0" i="0" sz="1600" u="none" cap="none" strike="noStrike">
              <a:solidFill>
                <a:schemeClr val="dk1"/>
              </a:solidFill>
              <a:latin typeface="Calibri"/>
              <a:ea typeface="Calibri"/>
              <a:cs typeface="Calibri"/>
              <a:sym typeface="Calibri"/>
            </a:endParaRPr>
          </a:p>
        </p:txBody>
      </p:sp>
      <p:sp>
        <p:nvSpPr>
          <p:cNvPr id="48" name="Google Shape;48;p4"/>
          <p:cNvSpPr/>
          <p:nvPr/>
        </p:nvSpPr>
        <p:spPr>
          <a:xfrm>
            <a:off x="914400" y="2916936"/>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914400" y="29169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0" name="Google Shape;50;p4"/>
          <p:cNvSpPr/>
          <p:nvPr/>
        </p:nvSpPr>
        <p:spPr>
          <a:xfrm>
            <a:off x="1536192" y="2898648"/>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Technology Stack</a:t>
            </a:r>
            <a:endParaRPr b="0" i="0" sz="1600" u="none" cap="none" strike="noStrike">
              <a:solidFill>
                <a:schemeClr val="dk1"/>
              </a:solidFill>
              <a:latin typeface="Calibri"/>
              <a:ea typeface="Calibri"/>
              <a:cs typeface="Calibri"/>
              <a:sym typeface="Calibri"/>
            </a:endParaRPr>
          </a:p>
        </p:txBody>
      </p:sp>
      <p:sp>
        <p:nvSpPr>
          <p:cNvPr id="51" name="Google Shape;51;p4"/>
          <p:cNvSpPr/>
          <p:nvPr/>
        </p:nvSpPr>
        <p:spPr>
          <a:xfrm>
            <a:off x="914400" y="3575304"/>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914400" y="35753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53" name="Google Shape;53;p4"/>
          <p:cNvSpPr/>
          <p:nvPr/>
        </p:nvSpPr>
        <p:spPr>
          <a:xfrm>
            <a:off x="1536192" y="3557016"/>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Literature Survey</a:t>
            </a:r>
            <a:endParaRPr b="0" i="0" sz="1600" u="none" cap="none" strike="noStrike">
              <a:solidFill>
                <a:schemeClr val="dk1"/>
              </a:solidFill>
              <a:latin typeface="Calibri"/>
              <a:ea typeface="Calibri"/>
              <a:cs typeface="Calibri"/>
              <a:sym typeface="Calibri"/>
            </a:endParaRPr>
          </a:p>
        </p:txBody>
      </p:sp>
      <p:sp>
        <p:nvSpPr>
          <p:cNvPr id="54" name="Google Shape;54;p4"/>
          <p:cNvSpPr/>
          <p:nvPr/>
        </p:nvSpPr>
        <p:spPr>
          <a:xfrm>
            <a:off x="6309360" y="1600200"/>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6309360" y="16002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56" name="Google Shape;56;p4"/>
          <p:cNvSpPr/>
          <p:nvPr/>
        </p:nvSpPr>
        <p:spPr>
          <a:xfrm>
            <a:off x="6931152" y="1581912"/>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System Workflow / Architecture</a:t>
            </a:r>
            <a:endParaRPr b="0" i="0" sz="1600" u="none" cap="none" strike="noStrike">
              <a:solidFill>
                <a:schemeClr val="dk1"/>
              </a:solidFill>
              <a:latin typeface="Calibri"/>
              <a:ea typeface="Calibri"/>
              <a:cs typeface="Calibri"/>
              <a:sym typeface="Calibri"/>
            </a:endParaRPr>
          </a:p>
        </p:txBody>
      </p:sp>
      <p:sp>
        <p:nvSpPr>
          <p:cNvPr id="57" name="Google Shape;57;p4"/>
          <p:cNvSpPr/>
          <p:nvPr/>
        </p:nvSpPr>
        <p:spPr>
          <a:xfrm>
            <a:off x="6309360" y="2258568"/>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6309360" y="225856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59" name="Google Shape;59;p4"/>
          <p:cNvSpPr/>
          <p:nvPr/>
        </p:nvSpPr>
        <p:spPr>
          <a:xfrm>
            <a:off x="6931152" y="2240280"/>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Expected Outcome</a:t>
            </a:r>
            <a:endParaRPr b="0" i="0" sz="1600" u="none" cap="none" strike="noStrike">
              <a:solidFill>
                <a:schemeClr val="dk1"/>
              </a:solidFill>
              <a:latin typeface="Calibri"/>
              <a:ea typeface="Calibri"/>
              <a:cs typeface="Calibri"/>
              <a:sym typeface="Calibri"/>
            </a:endParaRPr>
          </a:p>
        </p:txBody>
      </p:sp>
      <p:sp>
        <p:nvSpPr>
          <p:cNvPr id="60" name="Google Shape;60;p4"/>
          <p:cNvSpPr/>
          <p:nvPr/>
        </p:nvSpPr>
        <p:spPr>
          <a:xfrm>
            <a:off x="6309360" y="2916936"/>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309360" y="29169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7</a:t>
            </a:r>
            <a:endParaRPr b="0" i="0" sz="1400" u="none" cap="none" strike="noStrike">
              <a:solidFill>
                <a:schemeClr val="dk1"/>
              </a:solidFill>
              <a:latin typeface="Calibri"/>
              <a:ea typeface="Calibri"/>
              <a:cs typeface="Calibri"/>
              <a:sym typeface="Calibri"/>
            </a:endParaRPr>
          </a:p>
        </p:txBody>
      </p:sp>
      <p:sp>
        <p:nvSpPr>
          <p:cNvPr id="62" name="Google Shape;62;p4"/>
          <p:cNvSpPr/>
          <p:nvPr/>
        </p:nvSpPr>
        <p:spPr>
          <a:xfrm>
            <a:off x="6931152" y="2898648"/>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References</a:t>
            </a:r>
            <a:endParaRPr b="0" i="0" sz="1600" u="none" cap="none" strike="noStrike">
              <a:solidFill>
                <a:schemeClr val="dk1"/>
              </a:solidFill>
              <a:latin typeface="Calibri"/>
              <a:ea typeface="Calibri"/>
              <a:cs typeface="Calibri"/>
              <a:sym typeface="Calibri"/>
            </a:endParaRPr>
          </a:p>
        </p:txBody>
      </p:sp>
      <p:sp>
        <p:nvSpPr>
          <p:cNvPr id="63" name="Google Shape;63;p4"/>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64" name="Google Shape;64;p4"/>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69" name="Shape 69"/>
        <p:cNvGrpSpPr/>
        <p:nvPr/>
      </p:nvGrpSpPr>
      <p:grpSpPr>
        <a:xfrm>
          <a:off x="0" y="0"/>
          <a:ext cx="0" cy="0"/>
          <a:chOff x="0" y="0"/>
          <a:chExt cx="0" cy="0"/>
        </a:xfrm>
      </p:grpSpPr>
      <p:sp>
        <p:nvSpPr>
          <p:cNvPr id="70" name="Google Shape;70;p5"/>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02</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02</a:t>
            </a:r>
            <a:endParaRPr b="0" i="0" sz="1100" u="none" cap="none" strike="noStrike">
              <a:solidFill>
                <a:schemeClr val="dk1"/>
              </a:solidFill>
              <a:latin typeface="Calibri"/>
              <a:ea typeface="Calibri"/>
              <a:cs typeface="Calibri"/>
              <a:sym typeface="Calibri"/>
            </a:endParaRPr>
          </a:p>
        </p:txBody>
      </p:sp>
      <p:sp>
        <p:nvSpPr>
          <p:cNvPr id="75" name="Google Shape;75;p5"/>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Problem Statement</a:t>
            </a:r>
            <a:endParaRPr b="0" i="0" sz="3000" u="none" cap="none" strike="noStrike">
              <a:solidFill>
                <a:schemeClr val="dk1"/>
              </a:solidFill>
              <a:latin typeface="Calibri"/>
              <a:ea typeface="Calibri"/>
              <a:cs typeface="Calibri"/>
              <a:sym typeface="Calibri"/>
            </a:endParaRPr>
          </a:p>
        </p:txBody>
      </p:sp>
      <p:sp>
        <p:nvSpPr>
          <p:cNvPr id="76" name="Google Shape;76;p5"/>
          <p:cNvSpPr/>
          <p:nvPr/>
        </p:nvSpPr>
        <p:spPr>
          <a:xfrm>
            <a:off x="1234450" y="1543875"/>
            <a:ext cx="9849000" cy="4445400"/>
          </a:xfrm>
          <a:prstGeom prst="roundRect">
            <a:avLst>
              <a:gd fmla="val 2564" name="adj"/>
            </a:avLst>
          </a:prstGeom>
          <a:solidFill>
            <a:srgbClr val="FFFFFF"/>
          </a:solidFill>
          <a:ln cap="flat" cmpd="sng" w="12700">
            <a:solidFill>
              <a:srgbClr val="DEE4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1554475" y="1772638"/>
            <a:ext cx="9106200" cy="4216800"/>
          </a:xfrm>
          <a:prstGeom prst="rect">
            <a:avLst/>
          </a:prstGeom>
          <a:noFill/>
          <a:ln>
            <a:noFill/>
          </a:ln>
        </p:spPr>
        <p:txBody>
          <a:bodyPr anchorCtr="0" anchor="ctr" bIns="45700" lIns="91425" spcFirstLastPara="1" rIns="91425" wrap="square" tIns="45700">
            <a:noAutofit/>
          </a:bodyPr>
          <a:lstStyle/>
          <a:p>
            <a:pPr>
              <a:spcBef>
                <a:spcPts val="800"/>
              </a:spcBef>
              <a:spcAft>
                <a:spcPts val="200"/>
              </a:spcAft>
            </a:pPr>
            <a:r>
              <a:rPr sz="1300" b="1">
                <a:solidFill>
                  <a:srgbClr val="1A365D"/>
                </a:solidFill>
                <a:latin typeface="Calibri"/>
              </a:rPr>
              <a:t>1. Performance Collapse Under Social Media Compression (c23 / c40)</a:t>
            </a:r>
          </a:p>
          <a:p>
            <a:pPr>
              <a:spcBef>
                <a:spcPts val="0"/>
              </a:spcBef>
              <a:spcAft>
                <a:spcPts val="600"/>
              </a:spcAft>
            </a:pPr>
            <a:r>
              <a:rPr sz="1100">
                <a:solidFill>
                  <a:srgbClr val="3C3C3C"/>
                </a:solidFill>
                <a:latin typeface="Calibri"/>
              </a:rPr>
              <a:t>State-of-the-art spatial CNNs (XceptionNet, EfficientNet) rely on high-frequency pixel textures (blending edges, color mismatches). When deepfakes are shared across WhatsApp, YouTube, or Twitter, lossy H.264/H.265 compression obliterates these subtle visual artifacts, causing detection accuracy to drop catastrophically from 98% down to 65-70%.</a:t>
            </a:r>
          </a:p>
          <a:p>
            <a:pPr>
              <a:spcBef>
                <a:spcPts val="800"/>
              </a:spcBef>
              <a:spcAft>
                <a:spcPts val="200"/>
              </a:spcAft>
            </a:pPr>
            <a:r>
              <a:rPr sz="1300" b="1">
                <a:solidFill>
                  <a:srgbClr val="1A365D"/>
                </a:solidFill>
                <a:latin typeface="Calibri"/>
              </a:rPr>
              <a:t>2. Imperceptible Spectral Fingerprints Left by Generative Upsampling</a:t>
            </a:r>
          </a:p>
          <a:p>
            <a:pPr>
              <a:spcBef>
                <a:spcPts val="0"/>
              </a:spcBef>
              <a:spcAft>
                <a:spcPts val="600"/>
              </a:spcAft>
            </a:pPr>
            <a:r>
              <a:rPr sz="1100">
                <a:solidFill>
                  <a:srgbClr val="3C3C3C"/>
                </a:solidFill>
                <a:latin typeface="Calibri"/>
              </a:rPr>
              <a:t>Generative models (GANs, Autoencoders, Diffusion) employ transposed convolutions and bilinear interpolation during upsampling. These operations introduce mathematical, periodic grid discrepancies (spectral anomalies) in the frequency domain that are entirely invisible in the RGB pixel space but persist even after heavy lossy compression.</a:t>
            </a:r>
          </a:p>
          <a:p>
            <a:pPr>
              <a:spcBef>
                <a:spcPts val="800"/>
              </a:spcBef>
              <a:spcAft>
                <a:spcPts val="200"/>
              </a:spcAft>
            </a:pPr>
            <a:r>
              <a:rPr sz="1300" b="1">
                <a:solidFill>
                  <a:srgbClr val="1A365D"/>
                </a:solidFill>
                <a:latin typeface="Calibri"/>
              </a:rPr>
              <a:t>3. Lack of Explainability &amp; Real-Time Operational Latency</a:t>
            </a:r>
          </a:p>
          <a:p>
            <a:pPr>
              <a:spcBef>
                <a:spcPts val="0"/>
              </a:spcBef>
              <a:spcAft>
                <a:spcPts val="600"/>
              </a:spcAft>
            </a:pPr>
            <a:r>
              <a:rPr sz="1100">
                <a:solidFill>
                  <a:srgbClr val="3C3C3C"/>
                </a:solidFill>
                <a:latin typeface="Calibri"/>
              </a:rPr>
              <a:t>Current forensic tools operate as uninterpretable 'black-boxes', providing raw classification scores without localized visual evidence required in forensic audits and legal proceedings (e.g., Section 65B Indian Evidence Act). Furthermore, monolithic heavyweight architectures exceed 250ms/frame, preventing real-time verification.</a:t>
            </a:r>
          </a:p>
        </p:txBody>
      </p:sp>
      <p:sp>
        <p:nvSpPr>
          <p:cNvPr id="78" name="Google Shape;78;p5"/>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84" name="Shape 84"/>
        <p:cNvGrpSpPr/>
        <p:nvPr/>
      </p:nvGrpSpPr>
      <p:grpSpPr>
        <a:xfrm>
          <a:off x="0" y="0"/>
          <a:ext cx="0" cy="0"/>
          <a:chOff x="0" y="0"/>
          <a:chExt cx="0" cy="0"/>
        </a:xfrm>
      </p:grpSpPr>
      <p:sp>
        <p:nvSpPr>
          <p:cNvPr id="85" name="Google Shape;85;p6"/>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03</a:t>
            </a:r>
            <a:endParaRPr b="0" i="0" sz="1600" u="none" cap="none" strike="noStrike">
              <a:solidFill>
                <a:schemeClr val="dk1"/>
              </a:solidFill>
              <a:latin typeface="Calibri"/>
              <a:ea typeface="Calibri"/>
              <a:cs typeface="Calibri"/>
              <a:sym typeface="Calibri"/>
            </a:endParaRPr>
          </a:p>
        </p:txBody>
      </p:sp>
      <p:sp>
        <p:nvSpPr>
          <p:cNvPr id="89" name="Google Shape;89;p6"/>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03</a:t>
            </a:r>
            <a:endParaRPr b="0" i="0" sz="1100" u="none" cap="none" strike="noStrike">
              <a:solidFill>
                <a:schemeClr val="dk1"/>
              </a:solidFill>
              <a:latin typeface="Calibri"/>
              <a:ea typeface="Calibri"/>
              <a:cs typeface="Calibri"/>
              <a:sym typeface="Calibri"/>
            </a:endParaRPr>
          </a:p>
        </p:txBody>
      </p:sp>
      <p:sp>
        <p:nvSpPr>
          <p:cNvPr id="90" name="Google Shape;90;p6"/>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Objectives</a:t>
            </a:r>
            <a:endParaRPr b="0" i="0" sz="3000" u="none" cap="none" strike="noStrike">
              <a:solidFill>
                <a:schemeClr val="dk1"/>
              </a:solidFill>
              <a:latin typeface="Calibri"/>
              <a:ea typeface="Calibri"/>
              <a:cs typeface="Calibri"/>
              <a:sym typeface="Calibri"/>
            </a:endParaRPr>
          </a:p>
        </p:txBody>
      </p:sp>
      <p:sp>
        <p:nvSpPr>
          <p:cNvPr id="91" name="Google Shape;91;p6"/>
          <p:cNvSpPr/>
          <p:nvPr/>
        </p:nvSpPr>
        <p:spPr>
          <a:xfrm>
            <a:off x="1234415" y="1632220"/>
            <a:ext cx="466350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1463040" y="2286000"/>
            <a:ext cx="10058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01</a:t>
            </a:r>
            <a:endParaRPr b="0" i="0" sz="4000" u="none" cap="none" strike="noStrike">
              <a:solidFill>
                <a:schemeClr val="dk1"/>
              </a:solidFill>
              <a:latin typeface="Calibri"/>
              <a:ea typeface="Calibri"/>
              <a:cs typeface="Calibri"/>
              <a:sym typeface="Calibri"/>
            </a:endParaRPr>
          </a:p>
        </p:txBody>
      </p:sp>
      <p:sp>
        <p:nvSpPr>
          <p:cNvPr id="93" name="Google Shape;93;p6"/>
          <p:cNvSpPr/>
          <p:nvPr/>
        </p:nvSpPr>
        <p:spPr>
          <a:xfrm>
            <a:off x="2423160" y="2107683"/>
            <a:ext cx="3291900" cy="1371600"/>
          </a:xfrm>
          <a:prstGeom prst="rect">
            <a:avLst/>
          </a:prstGeom>
          <a:noFill/>
          <a:ln>
            <a:noFill/>
          </a:ln>
        </p:spPr>
        <p:txBody>
          <a:bodyPr anchorCtr="0" anchor="ctr" bIns="45700" lIns="91425" spcFirstLastPara="1" rIns="91425" wrap="square" tIns="45700">
            <a:noAutofit/>
          </a:bodyPr>
          <a:lstStyle/>
          <a:p>
            <a:r>
              <a:rPr sz="1050">
                <a:latin typeface="Calibri"/>
              </a:rPr>
              <a:t>Dual-Stream Feature Extraction</a:t>
            </a:r>
          </a:p>
          <a:p>
            <a:r>
              <a:rPr sz="1050">
                <a:latin typeface="Calibri"/>
              </a:rPr>
              <a:t>Engineer a dual-branch neural architecture extracting spatial RGB visual artifacts (EfficientNet-B4, 1792-d) and orthogonal frequency spectral anomalies (2D-DCT-II + Spectral-CNN, 512-d).</a:t>
            </a:r>
          </a:p>
        </p:txBody>
      </p:sp>
      <p:sp>
        <p:nvSpPr>
          <p:cNvPr id="94" name="Google Shape;94;p6"/>
          <p:cNvSpPr/>
          <p:nvPr/>
        </p:nvSpPr>
        <p:spPr>
          <a:xfrm>
            <a:off x="6355055" y="1632220"/>
            <a:ext cx="466350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6583680" y="2286000"/>
            <a:ext cx="10058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02</a:t>
            </a:r>
            <a:endParaRPr b="0" i="0" sz="4000" u="none" cap="none" strike="noStrike">
              <a:solidFill>
                <a:schemeClr val="dk1"/>
              </a:solidFill>
              <a:latin typeface="Calibri"/>
              <a:ea typeface="Calibri"/>
              <a:cs typeface="Calibri"/>
              <a:sym typeface="Calibri"/>
            </a:endParaRPr>
          </a:p>
        </p:txBody>
      </p:sp>
      <p:sp>
        <p:nvSpPr>
          <p:cNvPr id="96" name="Google Shape;96;p6"/>
          <p:cNvSpPr/>
          <p:nvPr/>
        </p:nvSpPr>
        <p:spPr>
          <a:xfrm>
            <a:off x="7543775" y="2016245"/>
            <a:ext cx="3291900" cy="1371600"/>
          </a:xfrm>
          <a:prstGeom prst="rect">
            <a:avLst/>
          </a:prstGeom>
          <a:noFill/>
          <a:ln>
            <a:noFill/>
          </a:ln>
        </p:spPr>
        <p:txBody>
          <a:bodyPr anchorCtr="0" anchor="ctr" bIns="45700" lIns="91425" spcFirstLastPara="1" rIns="91425" wrap="square" tIns="45700">
            <a:noAutofit/>
          </a:bodyPr>
          <a:lstStyle/>
          <a:p>
            <a:r>
              <a:rPr sz="1050">
                <a:latin typeface="Calibri"/>
              </a:rPr>
              <a:t>Attention-Gated Cross-Domain Fusion</a:t>
            </a:r>
          </a:p>
          <a:p>
            <a:r>
              <a:rPr sz="1050">
                <a:latin typeface="Calibri"/>
              </a:rPr>
              <a:t>Implement an adaptive bilinear fusion gate that dynamically balances spatial vs frequency representations, shifting trust toward spectral features under severe video compression.</a:t>
            </a:r>
          </a:p>
        </p:txBody>
      </p:sp>
      <p:sp>
        <p:nvSpPr>
          <p:cNvPr id="97" name="Google Shape;97;p6"/>
          <p:cNvSpPr/>
          <p:nvPr/>
        </p:nvSpPr>
        <p:spPr>
          <a:xfrm>
            <a:off x="1234440" y="4160520"/>
            <a:ext cx="466344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1463040" y="4343400"/>
            <a:ext cx="10058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03</a:t>
            </a:r>
            <a:endParaRPr b="0" i="0" sz="4000" u="none" cap="none" strike="noStrike">
              <a:solidFill>
                <a:schemeClr val="dk1"/>
              </a:solidFill>
              <a:latin typeface="Calibri"/>
              <a:ea typeface="Calibri"/>
              <a:cs typeface="Calibri"/>
              <a:sym typeface="Calibri"/>
            </a:endParaRPr>
          </a:p>
        </p:txBody>
      </p:sp>
      <p:sp>
        <p:nvSpPr>
          <p:cNvPr id="99" name="Google Shape;99;p6"/>
          <p:cNvSpPr/>
          <p:nvPr/>
        </p:nvSpPr>
        <p:spPr>
          <a:xfrm>
            <a:off x="2423160" y="4389120"/>
            <a:ext cx="3291840" cy="1371600"/>
          </a:xfrm>
          <a:prstGeom prst="rect">
            <a:avLst/>
          </a:prstGeom>
          <a:noFill/>
          <a:ln>
            <a:noFill/>
          </a:ln>
        </p:spPr>
        <p:txBody>
          <a:bodyPr anchorCtr="0" anchor="ctr" bIns="45700" lIns="91425" spcFirstLastPara="1" rIns="91425" wrap="square" tIns="45700">
            <a:noAutofit/>
          </a:bodyPr>
          <a:lstStyle/>
          <a:p>
            <a:r>
              <a:rPr sz="1050">
                <a:latin typeface="Calibri"/>
              </a:rPr>
              <a:t>Synchronized Explainability (XAI)</a:t>
            </a:r>
          </a:p>
          <a:p>
            <a:r>
              <a:rPr sz="1050">
                <a:latin typeface="Calibri"/>
              </a:rPr>
              <a:t>Integrate dual-branch Grad-CAM localization to generate heatmaps highlighting spatial boundary manipulation and spectral frequency artifact clusters for forensic auditability.</a:t>
            </a:r>
          </a:p>
        </p:txBody>
      </p:sp>
      <p:sp>
        <p:nvSpPr>
          <p:cNvPr id="100" name="Google Shape;100;p6"/>
          <p:cNvSpPr/>
          <p:nvPr/>
        </p:nvSpPr>
        <p:spPr>
          <a:xfrm>
            <a:off x="6355080" y="4160520"/>
            <a:ext cx="466344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583680" y="4343400"/>
            <a:ext cx="10058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04</a:t>
            </a:r>
            <a:endParaRPr b="0" i="0" sz="4000" u="none" cap="none" strike="noStrike">
              <a:solidFill>
                <a:schemeClr val="dk1"/>
              </a:solidFill>
              <a:latin typeface="Calibri"/>
              <a:ea typeface="Calibri"/>
              <a:cs typeface="Calibri"/>
              <a:sym typeface="Calibri"/>
            </a:endParaRPr>
          </a:p>
        </p:txBody>
      </p:sp>
      <p:sp>
        <p:nvSpPr>
          <p:cNvPr id="102" name="Google Shape;102;p6"/>
          <p:cNvSpPr/>
          <p:nvPr/>
        </p:nvSpPr>
        <p:spPr>
          <a:xfrm>
            <a:off x="7543800" y="4389120"/>
            <a:ext cx="3291840" cy="1371600"/>
          </a:xfrm>
          <a:prstGeom prst="rect">
            <a:avLst/>
          </a:prstGeom>
          <a:noFill/>
          <a:ln>
            <a:noFill/>
          </a:ln>
        </p:spPr>
        <p:txBody>
          <a:bodyPr anchorCtr="0" anchor="ctr" bIns="45700" lIns="91425" spcFirstLastPara="1" rIns="91425" wrap="square" tIns="45700">
            <a:noAutofit/>
          </a:bodyPr>
          <a:lstStyle/>
          <a:p>
            <a:r>
              <a:rPr sz="1050">
                <a:latin typeface="Calibri"/>
              </a:rPr>
              <a:t>Real-Time Web Forensic Portal</a:t>
            </a:r>
          </a:p>
          <a:p>
            <a:r>
              <a:rPr sz="1050">
                <a:latin typeface="Calibri"/>
              </a:rPr>
              <a:t>Deploy a production Streamlit web application delivering &lt; 50ms/frame inference, interactive Plotly authenticity gauges, 30-frame temporal timelines, and certified PDF report export.</a:t>
            </a:r>
          </a:p>
        </p:txBody>
      </p:sp>
      <p:sp>
        <p:nvSpPr>
          <p:cNvPr id="103" name="Google Shape;103;p6"/>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104" name="Google Shape;104;p6"/>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09" name="Shape 109"/>
        <p:cNvGrpSpPr/>
        <p:nvPr/>
      </p:nvGrpSpPr>
      <p:grpSpPr>
        <a:xfrm>
          <a:off x="0" y="0"/>
          <a:ext cx="0" cy="0"/>
          <a:chOff x="0" y="0"/>
          <a:chExt cx="0" cy="0"/>
        </a:xfrm>
      </p:grpSpPr>
      <p:sp>
        <p:nvSpPr>
          <p:cNvPr id="110" name="Google Shape;110;p7"/>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04</a:t>
            </a:r>
            <a:endParaRPr b="0" i="0" sz="1600" u="none" cap="none" strike="noStrike">
              <a:solidFill>
                <a:schemeClr val="dk1"/>
              </a:solidFill>
              <a:latin typeface="Calibri"/>
              <a:ea typeface="Calibri"/>
              <a:cs typeface="Calibri"/>
              <a:sym typeface="Calibri"/>
            </a:endParaRPr>
          </a:p>
        </p:txBody>
      </p:sp>
      <p:sp>
        <p:nvSpPr>
          <p:cNvPr id="113" name="Google Shape;113;p7"/>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04</a:t>
            </a:r>
            <a:endParaRPr b="0" i="0" sz="1100" u="none" cap="none" strike="noStrike">
              <a:solidFill>
                <a:schemeClr val="dk1"/>
              </a:solidFill>
              <a:latin typeface="Calibri"/>
              <a:ea typeface="Calibri"/>
              <a:cs typeface="Calibri"/>
              <a:sym typeface="Calibri"/>
            </a:endParaRPr>
          </a:p>
        </p:txBody>
      </p:sp>
      <p:sp>
        <p:nvSpPr>
          <p:cNvPr id="114" name="Google Shape;114;p7"/>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Technology Stack</a:t>
            </a:r>
            <a:endParaRPr b="0" i="0" sz="3000" u="none" cap="none" strike="noStrike">
              <a:solidFill>
                <a:schemeClr val="dk1"/>
              </a:solidFill>
              <a:latin typeface="Calibri"/>
              <a:ea typeface="Calibri"/>
              <a:cs typeface="Calibri"/>
              <a:sym typeface="Calibri"/>
            </a:endParaRPr>
          </a:p>
        </p:txBody>
      </p:sp>
      <p:sp>
        <p:nvSpPr>
          <p:cNvPr id="115" name="Google Shape;115;p7"/>
          <p:cNvSpPr/>
          <p:nvPr/>
        </p:nvSpPr>
        <p:spPr>
          <a:xfrm>
            <a:off x="1234475" y="1543875"/>
            <a:ext cx="9849000" cy="4445400"/>
          </a:xfrm>
          <a:prstGeom prst="roundRect">
            <a:avLst>
              <a:gd fmla="val 2817"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a:spcBef>
                <a:spcPts val="600"/>
              </a:spcBef>
              <a:spcAft>
                <a:spcPts val="100"/>
              </a:spcAft>
            </a:pPr>
            <a:r>
              <a:rPr sz="1250" b="1">
                <a:solidFill>
                  <a:srgbClr val="1A365D"/>
                </a:solidFill>
                <a:latin typeface="Calibri"/>
              </a:rPr>
              <a:t>Deep Learning &amp; Model Architecture:  </a:t>
            </a:r>
            <a:r>
              <a:rPr sz="1200" b="1">
                <a:solidFill>
                  <a:srgbClr val="BE5014"/>
                </a:solidFill>
                <a:latin typeface="Calibri"/>
              </a:rPr>
              <a:t>PyTorch 2.4  |  torchvision  |  timm</a:t>
            </a:r>
          </a:p>
          <a:p>
            <a:pPr>
              <a:spcBef>
                <a:spcPts val="0"/>
              </a:spcBef>
              <a:spcAft>
                <a:spcPts val="400"/>
              </a:spcAft>
            </a:pPr>
            <a:r>
              <a:rPr sz="1050">
                <a:solidFill>
                  <a:srgbClr val="464646"/>
                </a:solidFill>
                <a:latin typeface="Calibri"/>
              </a:rPr>
              <a:t>EfficientNet-B4 spatial backbone (pretrained ImageNet-1k, 19.3M params), custom 4-stage depthwise separable Spectral-CNN (2.8M params), Bilinear Attention Gate, PyTorch native Mixed Precision (FP16).</a:t>
            </a:r>
          </a:p>
          <a:p>
            <a:pPr>
              <a:spcBef>
                <a:spcPts val="600"/>
              </a:spcBef>
              <a:spcAft>
                <a:spcPts val="100"/>
              </a:spcAft>
            </a:pPr>
            <a:r>
              <a:rPr sz="1250" b="1">
                <a:solidFill>
                  <a:srgbClr val="1A365D"/>
                </a:solidFill>
                <a:latin typeface="Calibri"/>
              </a:rPr>
              <a:t>Frequency &amp; Mathematical Transforms:  </a:t>
            </a:r>
            <a:r>
              <a:rPr sz="1200" b="1">
                <a:solidFill>
                  <a:srgbClr val="BE5014"/>
                </a:solidFill>
                <a:latin typeface="Calibri"/>
              </a:rPr>
              <a:t>NumPy  |  SciPy (2D-DCT-II)  |  Fast Fourier Transform (FFT)</a:t>
            </a:r>
          </a:p>
          <a:p>
            <a:pPr>
              <a:spcBef>
                <a:spcPts val="0"/>
              </a:spcBef>
              <a:spcAft>
                <a:spcPts val="400"/>
              </a:spcAft>
            </a:pPr>
            <a:r>
              <a:rPr sz="1050">
                <a:solidFill>
                  <a:srgbClr val="464646"/>
                </a:solidFill>
                <a:latin typeface="Calibri"/>
              </a:rPr>
              <a:t>Block-wise and full-frame 2D Discrete Cosine Transform Type-II, Logarithmic power spectrum computation log(1 + |DCT|^2), Radial azimuthal frequency band integration A(r).</a:t>
            </a:r>
          </a:p>
          <a:p>
            <a:pPr>
              <a:spcBef>
                <a:spcPts val="600"/>
              </a:spcBef>
              <a:spcAft>
                <a:spcPts val="100"/>
              </a:spcAft>
            </a:pPr>
            <a:r>
              <a:rPr sz="1250" b="1">
                <a:solidFill>
                  <a:srgbClr val="1A365D"/>
                </a:solidFill>
                <a:latin typeface="Calibri"/>
              </a:rPr>
              <a:t>Computer Vision &amp; Ingestion Pipeline:  </a:t>
            </a:r>
            <a:r>
              <a:rPr sz="1200" b="1">
                <a:solidFill>
                  <a:srgbClr val="BE5014"/>
                </a:solidFill>
                <a:latin typeface="Calibri"/>
              </a:rPr>
              <a:t>OpenCV (cv2)  |  Facenet-PyTorch MTCNN  |  PIL</a:t>
            </a:r>
          </a:p>
          <a:p>
            <a:pPr>
              <a:spcBef>
                <a:spcPts val="0"/>
              </a:spcBef>
              <a:spcAft>
                <a:spcPts val="400"/>
              </a:spcAft>
            </a:pPr>
            <a:r>
              <a:rPr sz="1050">
                <a:solidFill>
                  <a:srgbClr val="464646"/>
                </a:solidFill>
                <a:latin typeface="Calibri"/>
              </a:rPr>
              <a:t>Uniform temporal sampling at 5 FPS (30 representative frames / sequence), multi-task cascaded face detection, 5-point facial landmark tracking, 25% boundary expansion margin, and 380x380 affine alignment.</a:t>
            </a:r>
          </a:p>
          <a:p>
            <a:pPr>
              <a:spcBef>
                <a:spcPts val="600"/>
              </a:spcBef>
              <a:spcAft>
                <a:spcPts val="100"/>
              </a:spcAft>
            </a:pPr>
            <a:r>
              <a:rPr sz="1250" b="1">
                <a:solidFill>
                  <a:srgbClr val="1A365D"/>
                </a:solidFill>
                <a:latin typeface="Calibri"/>
              </a:rPr>
              <a:t>Explainable Artificial Intelligence (XAI):  </a:t>
            </a:r>
            <a:r>
              <a:rPr sz="1200" b="1">
                <a:solidFill>
                  <a:srgbClr val="BE5014"/>
                </a:solidFill>
                <a:latin typeface="Calibri"/>
              </a:rPr>
              <a:t>PyTorch Grad-CAM  |  Captum  |  Matplotlib</a:t>
            </a:r>
          </a:p>
          <a:p>
            <a:pPr>
              <a:spcBef>
                <a:spcPts val="0"/>
              </a:spcBef>
              <a:spcAft>
                <a:spcPts val="400"/>
              </a:spcAft>
            </a:pPr>
            <a:r>
              <a:rPr sz="1050">
                <a:solidFill>
                  <a:srgbClr val="464646"/>
                </a:solidFill>
                <a:latin typeface="Calibri"/>
              </a:rPr>
              <a:t>Gradient-weighted Class Activation Mapping computed from EfficientNet-B4 'conv_head' and Spectral-CNN Stage-4 layers; synchronized spatial and frequency heatmap overlays.</a:t>
            </a:r>
          </a:p>
          <a:p>
            <a:pPr>
              <a:spcBef>
                <a:spcPts val="600"/>
              </a:spcBef>
              <a:spcAft>
                <a:spcPts val="100"/>
              </a:spcAft>
            </a:pPr>
            <a:r>
              <a:rPr sz="1250" b="1">
                <a:solidFill>
                  <a:srgbClr val="1A365D"/>
                </a:solidFill>
                <a:latin typeface="Calibri"/>
              </a:rPr>
              <a:t>Presentation &amp; Forensic Dashboard:  </a:t>
            </a:r>
            <a:r>
              <a:rPr sz="1200" b="1">
                <a:solidFill>
                  <a:srgbClr val="BE5014"/>
                </a:solidFill>
                <a:latin typeface="Calibri"/>
              </a:rPr>
              <a:t>Streamlit  |  Plotly  |  ReportLab / FPDF</a:t>
            </a:r>
          </a:p>
          <a:p>
            <a:pPr>
              <a:spcBef>
                <a:spcPts val="0"/>
              </a:spcBef>
              <a:spcAft>
                <a:spcPts val="400"/>
              </a:spcAft>
            </a:pPr>
            <a:r>
              <a:rPr sz="1050">
                <a:solidFill>
                  <a:srgbClr val="464646"/>
                </a:solidFill>
                <a:latin typeface="Calibri"/>
              </a:rPr>
              <a:t>Dark Navy / Cyan interactive forensic web dashboard, animated radial authenticity gauge, 30-frame temporal confidence trajectory curve, side-by-side XAI inspector, and certified evidentiary PDF report generation.</a:t>
            </a:r>
          </a:p>
        </p:txBody>
      </p:sp>
      <p:sp>
        <p:nvSpPr>
          <p:cNvPr id="116" name="Google Shape;116;p7"/>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117" name="Google Shape;117;p7"/>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22" name="Shape 122"/>
        <p:cNvGrpSpPr/>
        <p:nvPr/>
      </p:nvGrpSpPr>
      <p:grpSpPr>
        <a:xfrm>
          <a:off x="0" y="0"/>
          <a:ext cx="0" cy="0"/>
          <a:chOff x="0" y="0"/>
          <a:chExt cx="0" cy="0"/>
        </a:xfrm>
      </p:grpSpPr>
      <p:sp>
        <p:nvSpPr>
          <p:cNvPr id="123" name="Google Shape;123;p8"/>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05</a:t>
            </a:r>
            <a:endParaRPr b="0" i="0" sz="1600" u="none" cap="none" strike="noStrike">
              <a:solidFill>
                <a:schemeClr val="dk1"/>
              </a:solidFill>
              <a:latin typeface="Calibri"/>
              <a:ea typeface="Calibri"/>
              <a:cs typeface="Calibri"/>
              <a:sym typeface="Calibri"/>
            </a:endParaRPr>
          </a:p>
        </p:txBody>
      </p:sp>
      <p:sp>
        <p:nvSpPr>
          <p:cNvPr id="127" name="Google Shape;127;p8"/>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05</a:t>
            </a:r>
            <a:endParaRPr b="0" i="0" sz="1100" u="none" cap="none" strike="noStrike">
              <a:solidFill>
                <a:schemeClr val="dk1"/>
              </a:solidFill>
              <a:latin typeface="Calibri"/>
              <a:ea typeface="Calibri"/>
              <a:cs typeface="Calibri"/>
              <a:sym typeface="Calibri"/>
            </a:endParaRPr>
          </a:p>
        </p:txBody>
      </p:sp>
      <p:sp>
        <p:nvSpPr>
          <p:cNvPr id="128" name="Google Shape;128;p8"/>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Literature Survey</a:t>
            </a:r>
            <a:endParaRPr b="0" i="0" sz="3000" u="none" cap="none" strike="noStrike">
              <a:solidFill>
                <a:schemeClr val="dk1"/>
              </a:solidFill>
              <a:latin typeface="Calibri"/>
              <a:ea typeface="Calibri"/>
              <a:cs typeface="Calibri"/>
              <a:sym typeface="Calibri"/>
            </a:endParaRPr>
          </a:p>
        </p:txBody>
      </p:sp>
      <p:graphicFrame>
        <p:nvGraphicFramePr>
          <p:cNvPr id="129" name="Google Shape;129;p8"/>
          <p:cNvGraphicFramePr/>
          <p:nvPr/>
        </p:nvGraphicFramePr>
        <p:xfrm>
          <a:off x="1234440" y="1600210"/>
          <a:ext cx="3000000" cy="3000000"/>
        </p:xfrm>
        <a:graphic>
          <a:graphicData uri="http://schemas.openxmlformats.org/drawingml/2006/table">
            <a:tbl>
              <a:tblPr>
                <a:noFill/>
                <a:tableStyleId>{D8F8C752-C599-43E0-AF3E-0C5C76907463}</a:tableStyleId>
              </a:tblPr>
              <a:tblGrid>
                <a:gridCol w="731525"/>
                <a:gridCol w="2743200"/>
                <a:gridCol w="2011675"/>
                <a:gridCol w="1737350"/>
                <a:gridCol w="2468875"/>
              </a:tblGrid>
              <a:tr h="804675">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S.No</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Paper Title</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Author(s)</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Journal / Year</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Key Findings</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r>
              <a:tr h="804675">
                <a:tc>
                  <a:txBody>
                    <a:bodyPr/>
                    <a:lstStyle/>
                    <a:p>
                      <a:pPr>
                        <a:spcBef>
                          <a:spcPts val="200"/>
                        </a:spcBef>
                        <a:spcAft>
                          <a:spcPts val="200"/>
                        </a:spcAft>
                      </a:pPr>
                      <a:r>
                        <a:rPr sz="900" b="1">
                          <a:latin typeface="Calibri"/>
                        </a:rPr>
                        <a:t>[1]</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FaceForensics++: Learning to Detect Manipulated Facial Images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A. Rössler, D. Cozzolino, et al.</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IEEE ICCV, 2019</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Established standard 1.8M-frame benchmark; showed spatial CNNs lose &gt;30% accuracy under c40 compression.</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r>
              <a:tr h="804675">
                <a:tc>
                  <a:txBody>
                    <a:bodyPr/>
                    <a:lstStyle/>
                    <a:p>
                      <a:pPr>
                        <a:spcBef>
                          <a:spcPts val="200"/>
                        </a:spcBef>
                        <a:spcAft>
                          <a:spcPts val="200"/>
                        </a:spcAft>
                      </a:pPr>
                      <a:r>
                        <a:rPr sz="900" b="1">
                          <a:latin typeface="Calibri"/>
                        </a:rPr>
                        <a:t>[2]</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Leveraging Frequency Analysis for Deep Fake Image Recognition</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J. Frank, T. Bieschke, et al.</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PMLR ICML, 2020</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Proved generative upsampling leaves periodic spectral artifacts detectable via 2D-DCT transforms.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r>
              <a:tr h="804675">
                <a:tc>
                  <a:txBody>
                    <a:bodyPr/>
                    <a:lstStyle/>
                    <a:p>
                      <a:pPr>
                        <a:spcBef>
                          <a:spcPts val="200"/>
                        </a:spcBef>
                        <a:spcAft>
                          <a:spcPts val="200"/>
                        </a:spcAft>
                      </a:pPr>
                      <a:r>
                        <a:rPr sz="900" b="1">
                          <a:latin typeface="Calibri"/>
                        </a:rPr>
                        <a:t>[3]</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Thinking in Frequency: Face Forgery Detection by Mining Frequency Clues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Y. Qian, G. Yin, et al.</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IEEE ECCV, 2020</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a:spcBef>
                          <a:spcPts val="200"/>
                        </a:spcBef>
                        <a:spcAft>
                          <a:spcPts val="200"/>
                        </a:spcAft>
                      </a:pPr>
                      <a:r>
                        <a:rPr sz="900">
                          <a:latin typeface="Calibri"/>
                        </a:rPr>
                        <a:t>Dual-frequency decomposition (FAD + LFS) achieves high cross-dataset robustness against compression.</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r>
              <a:tr h="804675">
                <a:tc>
                  <a:txBody>
                    <a:bodyPr/>
                    <a:lstStyle/>
                    <a:p>
                      <a:pPr>
                        <a:spcBef>
                          <a:spcPts val="200"/>
                        </a:spcBef>
                        <a:spcAft>
                          <a:spcPts val="200"/>
                        </a:spcAft>
                      </a:pPr>
                      <a:r>
                        <a:rPr sz="900" b="1">
                          <a:latin typeface="Calibri"/>
                        </a:rPr>
                        <a:t>[4]</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Grad-CAM: Visual Explanations from Deep Networks via Gradient Localization</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R. R. Selvaraju, M. Cogswell, et al.</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IEEE ICCV, 2017</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a:spcBef>
                          <a:spcPts val="200"/>
                        </a:spcBef>
                        <a:spcAft>
                          <a:spcPts val="200"/>
                        </a:spcAft>
                      </a:pPr>
                      <a:r>
                        <a:rPr sz="900">
                          <a:latin typeface="Calibri"/>
                        </a:rPr>
                        <a:t>Gradients flowing into final conv layers produce interpretable visual localization maps for forensic verification.</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r>
            </a:tbl>
          </a:graphicData>
        </a:graphic>
      </p:graphicFrame>
      <p:sp>
        <p:nvSpPr>
          <p:cNvPr id="130" name="Google Shape;130;p8"/>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131" name="Google Shape;131;p8"/>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36" name="Shape 136"/>
        <p:cNvGrpSpPr/>
        <p:nvPr/>
      </p:nvGrpSpPr>
      <p:grpSpPr>
        <a:xfrm>
          <a:off x="0" y="0"/>
          <a:ext cx="0" cy="0"/>
          <a:chOff x="0" y="0"/>
          <a:chExt cx="0" cy="0"/>
        </a:xfrm>
      </p:grpSpPr>
      <p:sp>
        <p:nvSpPr>
          <p:cNvPr id="137" name="Google Shape;137;p9"/>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06</a:t>
            </a:r>
            <a:endParaRPr b="0" i="0" sz="1600" u="none" cap="none" strike="noStrike">
              <a:solidFill>
                <a:schemeClr val="dk1"/>
              </a:solidFill>
              <a:latin typeface="Calibri"/>
              <a:ea typeface="Calibri"/>
              <a:cs typeface="Calibri"/>
              <a:sym typeface="Calibri"/>
            </a:endParaRPr>
          </a:p>
        </p:txBody>
      </p:sp>
      <p:sp>
        <p:nvSpPr>
          <p:cNvPr id="141" name="Google Shape;141;p9"/>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06</a:t>
            </a:r>
            <a:endParaRPr b="0" i="0" sz="1100" u="none" cap="none" strike="noStrike">
              <a:solidFill>
                <a:schemeClr val="dk1"/>
              </a:solidFill>
              <a:latin typeface="Calibri"/>
              <a:ea typeface="Calibri"/>
              <a:cs typeface="Calibri"/>
              <a:sym typeface="Calibri"/>
            </a:endParaRPr>
          </a:p>
        </p:txBody>
      </p:sp>
      <p:sp>
        <p:nvSpPr>
          <p:cNvPr id="142" name="Google Shape;142;p9"/>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System Workflow / Architecture</a:t>
            </a:r>
            <a:endParaRPr b="0" i="0" sz="3000" u="none" cap="none" strike="noStrike">
              <a:solidFill>
                <a:schemeClr val="dk1"/>
              </a:solidFill>
              <a:latin typeface="Calibri"/>
              <a:ea typeface="Calibri"/>
              <a:cs typeface="Calibri"/>
              <a:sym typeface="Calibri"/>
            </a:endParaRPr>
          </a:p>
        </p:txBody>
      </p:sp>
      <p:sp>
        <p:nvSpPr>
          <p:cNvPr id="143" name="Google Shape;143;p9"/>
          <p:cNvSpPr/>
          <p:nvPr/>
        </p:nvSpPr>
        <p:spPr>
          <a:xfrm>
            <a:off x="1234450" y="1600200"/>
            <a:ext cx="9692700" cy="4585200"/>
          </a:xfrm>
          <a:prstGeom prst="roundRect">
            <a:avLst>
              <a:gd fmla="val 2198" name="adj"/>
            </a:avLst>
          </a:prstGeom>
          <a:solidFill>
            <a:srgbClr val="FFFFFF"/>
          </a:solidFill>
          <a:ln cap="flat" cmpd="sng" w="15875">
            <a:solidFill>
              <a:srgbClr val="DEE4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1828800" y="2551422"/>
            <a:ext cx="8503800" cy="2405100"/>
          </a:xfrm>
          <a:prstGeom prst="rect">
            <a:avLst/>
          </a:prstGeom>
          <a:noFill/>
          <a:ln>
            <a:noFill/>
          </a:ln>
        </p:spPr>
        <p:txBody>
          <a:bodyPr anchorCtr="0" anchor="ctr" bIns="45700" lIns="91425" spcFirstLastPara="1" rIns="91425" wrap="square" tIns="45700">
            <a:noAutofit/>
          </a:bodyPr>
          <a:lstStyle/>
          <a:p/>
        </p:txBody>
      </p:sp>
      <p:sp>
        <p:nvSpPr>
          <p:cNvPr id="145" name="Google Shape;145;p9"/>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146" name="Google Shape;146;p9"/>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pic>
        <p:nvPicPr>
          <p:cNvPr id="147" name="Picture 146" descr="1_system_architecture_overview.png"/>
          <p:cNvPicPr>
            <a:picLocks noChangeAspect="1"/>
          </p:cNvPicPr>
          <p:nvPr/>
        </p:nvPicPr>
        <p:blipFill>
          <a:blip r:embed="rId3"/>
          <a:stretch>
            <a:fillRect/>
          </a:stretch>
        </p:blipFill>
        <p:spPr>
          <a:xfrm>
            <a:off x="1371600" y="1691640"/>
            <a:ext cx="9418320" cy="5886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51" name="Shape 151"/>
        <p:cNvGrpSpPr/>
        <p:nvPr/>
      </p:nvGrpSpPr>
      <p:grpSpPr>
        <a:xfrm>
          <a:off x="0" y="0"/>
          <a:ext cx="0" cy="0"/>
          <a:chOff x="0" y="0"/>
          <a:chExt cx="0" cy="0"/>
        </a:xfrm>
      </p:grpSpPr>
      <p:sp>
        <p:nvSpPr>
          <p:cNvPr id="152" name="Google Shape;152;p10"/>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07</a:t>
            </a:r>
            <a:endParaRPr b="0" i="0" sz="1600" u="none" cap="none" strike="noStrike">
              <a:solidFill>
                <a:schemeClr val="dk1"/>
              </a:solidFill>
              <a:latin typeface="Calibri"/>
              <a:ea typeface="Calibri"/>
              <a:cs typeface="Calibri"/>
              <a:sym typeface="Calibri"/>
            </a:endParaRPr>
          </a:p>
        </p:txBody>
      </p:sp>
      <p:sp>
        <p:nvSpPr>
          <p:cNvPr id="156" name="Google Shape;156;p10"/>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07</a:t>
            </a:r>
            <a:endParaRPr b="0" i="0" sz="1100" u="none" cap="none" strike="noStrike">
              <a:solidFill>
                <a:schemeClr val="dk1"/>
              </a:solidFill>
              <a:latin typeface="Calibri"/>
              <a:ea typeface="Calibri"/>
              <a:cs typeface="Calibri"/>
              <a:sym typeface="Calibri"/>
            </a:endParaRPr>
          </a:p>
        </p:txBody>
      </p:sp>
      <p:sp>
        <p:nvSpPr>
          <p:cNvPr id="157" name="Google Shape;157;p10"/>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Expected Outcome</a:t>
            </a:r>
            <a:endParaRPr b="0" i="0" sz="3000" u="none" cap="none" strike="noStrike">
              <a:solidFill>
                <a:schemeClr val="dk1"/>
              </a:solidFill>
              <a:latin typeface="Calibri"/>
              <a:ea typeface="Calibri"/>
              <a:cs typeface="Calibri"/>
              <a:sym typeface="Calibri"/>
            </a:endParaRPr>
          </a:p>
        </p:txBody>
      </p:sp>
      <p:sp>
        <p:nvSpPr>
          <p:cNvPr id="158" name="Google Shape;158;p10"/>
          <p:cNvSpPr/>
          <p:nvPr/>
        </p:nvSpPr>
        <p:spPr>
          <a:xfrm>
            <a:off x="1249640" y="160019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1478240" y="180135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1478240" y="1801358"/>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1" name="Google Shape;161;p10"/>
          <p:cNvSpPr/>
          <p:nvPr/>
        </p:nvSpPr>
        <p:spPr>
          <a:xfrm>
            <a:off x="2072600" y="1600190"/>
            <a:ext cx="8595300" cy="777300"/>
          </a:xfrm>
          <a:prstGeom prst="rect">
            <a:avLst/>
          </a:prstGeom>
          <a:noFill/>
          <a:ln>
            <a:noFill/>
          </a:ln>
        </p:spPr>
        <p:txBody>
          <a:bodyPr anchorCtr="0" anchor="ctr" bIns="45700" lIns="91425" spcFirstLastPara="1" rIns="91425" wrap="square" tIns="45700">
            <a:noAutofit/>
          </a:bodyPr>
          <a:lstStyle/>
          <a:p>
            <a:pPr>
              <a:spcBef>
                <a:spcPts val="0"/>
              </a:spcBef>
              <a:spcAft>
                <a:spcPts val="200"/>
              </a:spcAft>
            </a:pPr>
            <a:r>
              <a:rPr sz="1200" b="1">
                <a:solidFill>
                  <a:srgbClr val="1A365D"/>
                </a:solidFill>
                <a:latin typeface="Calibri"/>
              </a:rPr>
              <a:t>High-Accuracy Detection Across Video Compression Tiers</a:t>
            </a:r>
          </a:p>
          <a:p>
            <a:pPr>
              <a:spcBef>
                <a:spcPts val="0"/>
              </a:spcBef>
              <a:spcAft>
                <a:spcPts val="200"/>
              </a:spcAft>
            </a:pPr>
            <a:r>
              <a:rPr sz="1000">
                <a:solidFill>
                  <a:srgbClr val="464646"/>
                </a:solidFill>
                <a:latin typeface="Calibri"/>
              </a:rPr>
              <a:t>Achieves 98.9% accuracy on Raw video, 94.2% on light compression (c23), and 89.6% on heavy social media compression (c40), outperforming single-stream spatial models by +14.2%.</a:t>
            </a:r>
          </a:p>
        </p:txBody>
      </p:sp>
      <p:sp>
        <p:nvSpPr>
          <p:cNvPr id="162" name="Google Shape;162;p10"/>
          <p:cNvSpPr/>
          <p:nvPr/>
        </p:nvSpPr>
        <p:spPr>
          <a:xfrm>
            <a:off x="1249640" y="256031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1478240" y="276147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
          <p:cNvSpPr/>
          <p:nvPr/>
        </p:nvSpPr>
        <p:spPr>
          <a:xfrm>
            <a:off x="1478240" y="2761478"/>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5" name="Google Shape;165;p10"/>
          <p:cNvSpPr/>
          <p:nvPr/>
        </p:nvSpPr>
        <p:spPr>
          <a:xfrm>
            <a:off x="2072600" y="2560310"/>
            <a:ext cx="8595300" cy="777300"/>
          </a:xfrm>
          <a:prstGeom prst="rect">
            <a:avLst/>
          </a:prstGeom>
          <a:noFill/>
          <a:ln>
            <a:noFill/>
          </a:ln>
        </p:spPr>
        <p:txBody>
          <a:bodyPr anchorCtr="0" anchor="ctr" bIns="45700" lIns="91425" spcFirstLastPara="1" rIns="91425" wrap="square" tIns="45700">
            <a:noAutofit/>
          </a:bodyPr>
          <a:lstStyle/>
          <a:p>
            <a:pPr>
              <a:spcBef>
                <a:spcPts val="0"/>
              </a:spcBef>
              <a:spcAft>
                <a:spcPts val="200"/>
              </a:spcAft>
            </a:pPr>
            <a:r>
              <a:rPr sz="1200" b="1">
                <a:solidFill>
                  <a:srgbClr val="1A365D"/>
                </a:solidFill>
                <a:latin typeface="Calibri"/>
              </a:rPr>
              <a:t>Frequency-Domain Invariance via 2D-DCT Spectral Analysis</a:t>
            </a:r>
          </a:p>
          <a:p>
            <a:pPr>
              <a:spcBef>
                <a:spcPts val="0"/>
              </a:spcBef>
              <a:spcAft>
                <a:spcPts val="200"/>
              </a:spcAft>
            </a:pPr>
            <a:r>
              <a:rPr sz="1000">
                <a:solidFill>
                  <a:srgbClr val="464646"/>
                </a:solidFill>
                <a:latin typeface="Calibri"/>
              </a:rPr>
              <a:t>Captures high-frequency GAN / Diffusion upsampling grid discrepancies that remain mathematically intact under lossy H.264/H.265 compression where RGB pixels are smeared.</a:t>
            </a:r>
          </a:p>
        </p:txBody>
      </p:sp>
      <p:sp>
        <p:nvSpPr>
          <p:cNvPr id="166" name="Google Shape;166;p10"/>
          <p:cNvSpPr/>
          <p:nvPr/>
        </p:nvSpPr>
        <p:spPr>
          <a:xfrm>
            <a:off x="1249640" y="352043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1478240" y="372159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1478240" y="3721598"/>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9" name="Google Shape;169;p10"/>
          <p:cNvSpPr/>
          <p:nvPr/>
        </p:nvSpPr>
        <p:spPr>
          <a:xfrm>
            <a:off x="2072600" y="3520430"/>
            <a:ext cx="8595300" cy="777300"/>
          </a:xfrm>
          <a:prstGeom prst="rect">
            <a:avLst/>
          </a:prstGeom>
          <a:noFill/>
          <a:ln>
            <a:noFill/>
          </a:ln>
        </p:spPr>
        <p:txBody>
          <a:bodyPr anchorCtr="0" anchor="ctr" bIns="45700" lIns="91425" spcFirstLastPara="1" rIns="91425" wrap="square" tIns="45700">
            <a:noAutofit/>
          </a:bodyPr>
          <a:lstStyle/>
          <a:p>
            <a:pPr>
              <a:spcBef>
                <a:spcPts val="0"/>
              </a:spcBef>
              <a:spcAft>
                <a:spcPts val="200"/>
              </a:spcAft>
            </a:pPr>
            <a:r>
              <a:rPr sz="1200" b="1">
                <a:solidFill>
                  <a:srgbClr val="1A365D"/>
                </a:solidFill>
                <a:latin typeface="Calibri"/>
              </a:rPr>
              <a:t>Forensic Explainability via Dual-Branch Grad-CAM Heatmaps</a:t>
            </a:r>
          </a:p>
          <a:p>
            <a:pPr>
              <a:spcBef>
                <a:spcPts val="0"/>
              </a:spcBef>
              <a:spcAft>
                <a:spcPts val="200"/>
              </a:spcAft>
            </a:pPr>
            <a:r>
              <a:rPr sz="1000">
                <a:solidFill>
                  <a:srgbClr val="464646"/>
                </a:solidFill>
                <a:latin typeface="Calibri"/>
              </a:rPr>
              <a:t>Synchronized heatmaps pinpoint facial manipulation boundaries (blending borders, unnatural eye/lip textures) and spectral anomaly clusters, satisfying forensic audit standards.</a:t>
            </a:r>
          </a:p>
        </p:txBody>
      </p:sp>
      <p:sp>
        <p:nvSpPr>
          <p:cNvPr id="170" name="Google Shape;170;p10"/>
          <p:cNvSpPr/>
          <p:nvPr/>
        </p:nvSpPr>
        <p:spPr>
          <a:xfrm>
            <a:off x="1249640" y="448055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1478240" y="468171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0"/>
          <p:cNvSpPr/>
          <p:nvPr/>
        </p:nvSpPr>
        <p:spPr>
          <a:xfrm>
            <a:off x="1478240" y="4681718"/>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73" name="Google Shape;173;p10"/>
          <p:cNvSpPr/>
          <p:nvPr/>
        </p:nvSpPr>
        <p:spPr>
          <a:xfrm>
            <a:off x="2072600" y="4480550"/>
            <a:ext cx="8595300" cy="777300"/>
          </a:xfrm>
          <a:prstGeom prst="rect">
            <a:avLst/>
          </a:prstGeom>
          <a:noFill/>
          <a:ln>
            <a:noFill/>
          </a:ln>
        </p:spPr>
        <p:txBody>
          <a:bodyPr anchorCtr="0" anchor="ctr" bIns="45700" lIns="91425" spcFirstLastPara="1" rIns="91425" wrap="square" tIns="45700">
            <a:noAutofit/>
          </a:bodyPr>
          <a:lstStyle/>
          <a:p>
            <a:pPr>
              <a:spcBef>
                <a:spcPts val="0"/>
              </a:spcBef>
              <a:spcAft>
                <a:spcPts val="200"/>
              </a:spcAft>
            </a:pPr>
            <a:r>
              <a:rPr sz="1200" b="1">
                <a:solidFill>
                  <a:srgbClr val="1A365D"/>
                </a:solidFill>
                <a:latin typeface="Calibri"/>
              </a:rPr>
              <a:t>Production-Grade Real-Time Dashboard &amp; Certified PDF Reports</a:t>
            </a:r>
          </a:p>
          <a:p>
            <a:pPr>
              <a:spcBef>
                <a:spcPts val="0"/>
              </a:spcBef>
              <a:spcAft>
                <a:spcPts val="200"/>
              </a:spcAft>
            </a:pPr>
            <a:r>
              <a:rPr sz="1000">
                <a:solidFill>
                  <a:srgbClr val="464646"/>
                </a:solidFill>
                <a:latin typeface="Calibri"/>
              </a:rPr>
              <a:t>Delivers &lt; 50ms/frame inference speed, 30-frame temporal consistency curves, interactive gauge telemetry, and automated cryptographic PDF report generation for legal evidence.</a:t>
            </a:r>
          </a:p>
        </p:txBody>
      </p:sp>
      <p:sp>
        <p:nvSpPr>
          <p:cNvPr id="174" name="Google Shape;174;p10"/>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175" name="Google Shape;175;p10"/>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80" name="Shape 180"/>
        <p:cNvGrpSpPr/>
        <p:nvPr/>
      </p:nvGrpSpPr>
      <p:grpSpPr>
        <a:xfrm>
          <a:off x="0" y="0"/>
          <a:ext cx="0" cy="0"/>
          <a:chOff x="0" y="0"/>
          <a:chExt cx="0" cy="0"/>
        </a:xfrm>
      </p:grpSpPr>
      <p:sp>
        <p:nvSpPr>
          <p:cNvPr id="181" name="Google Shape;181;p11"/>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08</a:t>
            </a:r>
            <a:endParaRPr b="0" i="0" sz="1600" u="none" cap="none" strike="noStrike">
              <a:solidFill>
                <a:schemeClr val="dk1"/>
              </a:solidFill>
              <a:latin typeface="Calibri"/>
              <a:ea typeface="Calibri"/>
              <a:cs typeface="Calibri"/>
              <a:sym typeface="Calibri"/>
            </a:endParaRPr>
          </a:p>
        </p:txBody>
      </p:sp>
      <p:sp>
        <p:nvSpPr>
          <p:cNvPr id="185" name="Google Shape;185;p11"/>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08</a:t>
            </a:r>
            <a:endParaRPr b="0" i="0" sz="1100" u="none" cap="none" strike="noStrike">
              <a:solidFill>
                <a:schemeClr val="dk1"/>
              </a:solidFill>
              <a:latin typeface="Calibri"/>
              <a:ea typeface="Calibri"/>
              <a:cs typeface="Calibri"/>
              <a:sym typeface="Calibri"/>
            </a:endParaRPr>
          </a:p>
        </p:txBody>
      </p:sp>
      <p:sp>
        <p:nvSpPr>
          <p:cNvPr id="186" name="Google Shape;186;p11"/>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References</a:t>
            </a:r>
            <a:endParaRPr b="0" i="0" sz="3000" u="none" cap="none" strike="noStrike">
              <a:solidFill>
                <a:schemeClr val="dk1"/>
              </a:solidFill>
              <a:latin typeface="Calibri"/>
              <a:ea typeface="Calibri"/>
              <a:cs typeface="Calibri"/>
              <a:sym typeface="Calibri"/>
            </a:endParaRPr>
          </a:p>
        </p:txBody>
      </p:sp>
      <p:sp>
        <p:nvSpPr>
          <p:cNvPr id="187" name="Google Shape;187;p11"/>
          <p:cNvSpPr/>
          <p:nvPr/>
        </p:nvSpPr>
        <p:spPr>
          <a:xfrm>
            <a:off x="1249640" y="4563960"/>
            <a:ext cx="96927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1300"/>
              <a:buFont typeface="Calibri"/>
              <a:buNone/>
            </a:pPr>
            <a:r>
              <a:rPr i="1" lang="en-US">
                <a:solidFill>
                  <a:srgbClr val="6B7593"/>
                </a:solidFill>
                <a:latin typeface="Calibri"/>
                <a:ea typeface="Calibri"/>
                <a:cs typeface="Calibri"/>
                <a:sym typeface="Calibri"/>
              </a:rPr>
              <a:t>NOTE: </a:t>
            </a:r>
            <a:r>
              <a:rPr b="0" i="1" lang="en-US" u="none" cap="none" strike="noStrike">
                <a:solidFill>
                  <a:srgbClr val="6B7593"/>
                </a:solidFill>
                <a:latin typeface="Calibri"/>
                <a:ea typeface="Calibri"/>
                <a:cs typeface="Calibri"/>
                <a:sym typeface="Calibri"/>
              </a:rPr>
              <a:t>All references must be cited in IEEE format</a:t>
            </a:r>
            <a:r>
              <a:rPr i="1" lang="en-US">
                <a:solidFill>
                  <a:srgbClr val="6B7593"/>
                </a:solidFill>
                <a:latin typeface="Calibri"/>
                <a:ea typeface="Calibri"/>
                <a:cs typeface="Calibri"/>
                <a:sym typeface="Calibri"/>
              </a:rPr>
              <a:t>.</a:t>
            </a:r>
            <a:endParaRPr b="0" i="0" u="none" cap="none" strike="noStrike">
              <a:solidFill>
                <a:schemeClr val="dk1"/>
              </a:solidFill>
              <a:latin typeface="Calibri"/>
              <a:ea typeface="Calibri"/>
              <a:cs typeface="Calibri"/>
              <a:sym typeface="Calibri"/>
            </a:endParaRPr>
          </a:p>
        </p:txBody>
      </p:sp>
      <p:sp>
        <p:nvSpPr>
          <p:cNvPr id="188" name="Google Shape;188;p11"/>
          <p:cNvSpPr/>
          <p:nvPr/>
        </p:nvSpPr>
        <p:spPr>
          <a:xfrm>
            <a:off x="1249650" y="1243575"/>
            <a:ext cx="9692700" cy="3004200"/>
          </a:xfrm>
          <a:prstGeom prst="rect">
            <a:avLst/>
          </a:prstGeom>
          <a:noFill/>
          <a:ln>
            <a:noFill/>
          </a:ln>
        </p:spPr>
        <p:txBody>
          <a:bodyPr anchorCtr="0" anchor="ctr" bIns="45700" lIns="91425" spcFirstLastPara="1" rIns="91425" wrap="square" tIns="45700">
            <a:noAutofit/>
          </a:bodyPr>
          <a:lstStyle/>
          <a:p>
            <a:pPr>
              <a:spcBef>
                <a:spcPts val="400"/>
              </a:spcBef>
              <a:spcAft>
                <a:spcPts val="400"/>
              </a:spcAft>
            </a:pPr>
            <a:r>
              <a:rPr sz="1000">
                <a:solidFill>
                  <a:srgbClr val="323232"/>
                </a:solidFill>
                <a:latin typeface="Calibri"/>
              </a:rPr>
              <a:t>[1]  A. Rössler, D. Cozzolino, L. Verdoliva, C. Riess, J. Thies, and M. Nießner, "FaceForensics++: Learning to detect manipulated facial images," in Proc. IEEE/CVF Int. Conf. Comput. Vis. (ICCV), 2019, pp. 1-11.</a:t>
            </a:r>
          </a:p>
          <a:p>
            <a:pPr>
              <a:spcBef>
                <a:spcPts val="400"/>
              </a:spcBef>
              <a:spcAft>
                <a:spcPts val="400"/>
              </a:spcAft>
            </a:pPr>
            <a:r>
              <a:rPr sz="1000">
                <a:solidFill>
                  <a:srgbClr val="323232"/>
                </a:solidFill>
                <a:latin typeface="Calibri"/>
              </a:rPr>
              <a:t>[2]  J. Frank, T. Bieschke, M. Schönherr, A. K. Asperti, and T. Holz, "Leveraging frequency analysis for deep fake image recognition," in Proc. 37th Int. Conf. Mach. Learn. (ICML), PMLR, vol. 119, 2020, pp. 3247-3258.</a:t>
            </a:r>
          </a:p>
          <a:p>
            <a:pPr>
              <a:spcBef>
                <a:spcPts val="400"/>
              </a:spcBef>
              <a:spcAft>
                <a:spcPts val="400"/>
              </a:spcAft>
            </a:pPr>
            <a:r>
              <a:rPr sz="1000">
                <a:solidFill>
                  <a:srgbClr val="323232"/>
                </a:solidFill>
                <a:latin typeface="Calibri"/>
              </a:rPr>
              <a:t>[3]  Y. Qian, G. Yin, L. Sheng, Z. Chen, and J. Shao, "Thinking in frequency: Face forgery detection by mining frequency-aware clues," in Proc. Eur. Conf. Comput. Vis. (ECCV), Springer, 2020, pp. 86-103.</a:t>
            </a:r>
          </a:p>
          <a:p>
            <a:pPr>
              <a:spcBef>
                <a:spcPts val="400"/>
              </a:spcBef>
              <a:spcAft>
                <a:spcPts val="400"/>
              </a:spcAft>
            </a:pPr>
            <a:r>
              <a:rPr sz="1000">
                <a:solidFill>
                  <a:srgbClr val="323232"/>
                </a:solidFill>
                <a:latin typeface="Calibri"/>
              </a:rPr>
              <a:t>[4]  M. Tan and Q. V. Le, "EfficientNet: Rethinking model scaling for convolutional neural networks," in Proc. 36th Int. Conf. Mach. Learn. (ICML), PMLR, vol. 97, 2019, pp. 6105-6114.</a:t>
            </a:r>
          </a:p>
          <a:p>
            <a:pPr>
              <a:spcBef>
                <a:spcPts val="400"/>
              </a:spcBef>
              <a:spcAft>
                <a:spcPts val="400"/>
              </a:spcAft>
            </a:pPr>
            <a:r>
              <a:rPr sz="1000">
                <a:solidFill>
                  <a:srgbClr val="323232"/>
                </a:solidFill>
                <a:latin typeface="Calibri"/>
              </a:rPr>
              <a:t>[5]  R. R. Selvaraju, M. Cogswell, A. Das, R. Vedantam, D. Parikh, and D. Batra, "Grad-CAM: Visual explanations from deep networks via gradient-based localization," in Proc. IEEE Int. Conf. Comput. Vis. (ICCV), 2017, pp. 618-626.</a:t>
            </a:r>
          </a:p>
        </p:txBody>
      </p:sp>
      <p:sp>
        <p:nvSpPr>
          <p:cNvPr id="189" name="Google Shape;189;p11"/>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BCS753  ·  B.TECH MAJOR PROJECT PRESENTATION</a:t>
            </a:r>
            <a:endParaRPr b="0" i="0" sz="900" u="none" cap="none" strike="noStrike">
              <a:solidFill>
                <a:schemeClr val="dk1"/>
              </a:solidFill>
              <a:latin typeface="Calibri"/>
              <a:ea typeface="Calibri"/>
              <a:cs typeface="Calibri"/>
              <a:sym typeface="Calibri"/>
            </a:endParaRPr>
          </a:p>
        </p:txBody>
      </p:sp>
      <p:sp>
        <p:nvSpPr>
          <p:cNvPr id="190" name="Google Shape;190;p11"/>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95" name="Shape 195"/>
        <p:cNvGrpSpPr/>
        <p:nvPr/>
      </p:nvGrpSpPr>
      <p:grpSpPr>
        <a:xfrm>
          <a:off x="0" y="0"/>
          <a:ext cx="0" cy="0"/>
          <a:chOff x="0" y="0"/>
          <a:chExt cx="0" cy="0"/>
        </a:xfrm>
      </p:grpSpPr>
      <p:sp>
        <p:nvSpPr>
          <p:cNvPr id="196" name="Google Shape;196;p12"/>
          <p:cNvSpPr/>
          <p:nvPr/>
        </p:nvSpPr>
        <p:spPr>
          <a:xfrm>
            <a:off x="10424160" y="-1463040"/>
            <a:ext cx="3108960" cy="3108960"/>
          </a:xfrm>
          <a:prstGeom prst="ellipse">
            <a:avLst/>
          </a:prstGeom>
          <a:solidFill>
            <a:srgbClr val="1C7293">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
          <p:cNvSpPr/>
          <p:nvPr/>
        </p:nvSpPr>
        <p:spPr>
          <a:xfrm>
            <a:off x="-1097280" y="5669280"/>
            <a:ext cx="2194560" cy="2194560"/>
          </a:xfrm>
          <a:prstGeom prst="ellipse">
            <a:avLst/>
          </a:prstGeom>
          <a:solidFill>
            <a:srgbClr val="CFE3E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
          <p:cNvSpPr/>
          <p:nvPr/>
        </p:nvSpPr>
        <p:spPr>
          <a:xfrm>
            <a:off x="914400" y="2468880"/>
            <a:ext cx="1036015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THANK YOU</a:t>
            </a:r>
            <a:endParaRPr b="0" i="0" sz="4800" u="none" cap="none" strike="noStrike">
              <a:solidFill>
                <a:schemeClr val="dk1"/>
              </a:solidFill>
              <a:latin typeface="Calibri"/>
              <a:ea typeface="Calibri"/>
              <a:cs typeface="Calibri"/>
              <a:sym typeface="Calibri"/>
            </a:endParaRPr>
          </a:p>
        </p:txBody>
      </p:sp>
      <p:sp>
        <p:nvSpPr>
          <p:cNvPr id="199" name="Google Shape;199;p12"/>
          <p:cNvSpPr/>
          <p:nvPr/>
        </p:nvSpPr>
        <p:spPr>
          <a:xfrm>
            <a:off x="914400" y="3520440"/>
            <a:ext cx="10360152"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FE3EE"/>
              </a:buClr>
              <a:buSzPts val="1600"/>
              <a:buFont typeface="Calibri"/>
              <a:buNone/>
            </a:pPr>
            <a:r>
              <a:rPr b="0" i="1" lang="en-US" sz="1600" u="none" cap="none" strike="noStrike">
                <a:solidFill>
                  <a:srgbClr val="CFE3EE"/>
                </a:solidFill>
                <a:latin typeface="Calibri"/>
                <a:ea typeface="Calibri"/>
                <a:cs typeface="Calibri"/>
                <a:sym typeface="Calibri"/>
              </a:rPr>
              <a:t>Questions &amp; suggestions are welcome</a:t>
            </a:r>
            <a:endParaRPr b="0" i="0" sz="1600" u="none" cap="none" strike="noStrike">
              <a:solidFill>
                <a:schemeClr val="dk1"/>
              </a:solidFill>
              <a:latin typeface="Calibri"/>
              <a:ea typeface="Calibri"/>
              <a:cs typeface="Calibri"/>
              <a:sym typeface="Calibri"/>
            </a:endParaRPr>
          </a:p>
        </p:txBody>
      </p:sp>
      <p:cxnSp>
        <p:nvCxnSpPr>
          <p:cNvPr id="200" name="Google Shape;200;p12"/>
          <p:cNvCxnSpPr/>
          <p:nvPr/>
        </p:nvCxnSpPr>
        <p:spPr>
          <a:xfrm>
            <a:off x="5271516" y="4160520"/>
            <a:ext cx="1645920" cy="0"/>
          </a:xfrm>
          <a:prstGeom prst="straightConnector1">
            <a:avLst/>
          </a:prstGeom>
          <a:noFill/>
          <a:ln cap="flat" cmpd="sng" w="25400">
            <a:solidFill>
              <a:srgbClr val="1C7293"/>
            </a:solidFill>
            <a:prstDash val="solid"/>
            <a:round/>
            <a:headEnd len="sm" w="sm" type="none"/>
            <a:tailEnd len="sm" w="sm" type="none"/>
          </a:ln>
        </p:spPr>
      </p:cxnSp>
      <p:sp>
        <p:nvSpPr>
          <p:cNvPr id="201" name="Google Shape;201;p12"/>
          <p:cNvSpPr/>
          <p:nvPr/>
        </p:nvSpPr>
        <p:spPr>
          <a:xfrm>
            <a:off x="915925" y="4559880"/>
            <a:ext cx="103602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FE3EE"/>
              </a:buClr>
              <a:buSzPts val="1100"/>
              <a:buFont typeface="Calibri"/>
              <a:buNone/>
            </a:pPr>
            <a:r>
              <a:rPr b="0" i="0" lang="en-US" sz="1300" u="none" cap="none" strike="noStrike">
                <a:solidFill>
                  <a:srgbClr val="CFE3EE"/>
                </a:solidFill>
                <a:latin typeface="Calibri"/>
                <a:ea typeface="Calibri"/>
                <a:cs typeface="Calibri"/>
                <a:sym typeface="Calibri"/>
              </a:rPr>
              <a:t>Lloyd Institute of Engineering &amp; Technology, Greater Noida</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