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F8C752-C599-43E0-AF3E-0C5C76907463}">
  <a:tblStyle styleId="{D8F8C752-C599-43E0-AF3E-0C5C7690746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14400" y="169164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114821"/>
            <a:ext cx="103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Greater Noida  |  Department of Computer Science &amp; Engineering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2715775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B.TECH FINAL YEAR MAJOR PROJECT  ·  BCS753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280160" y="3200400"/>
            <a:ext cx="9628632" cy="1371600"/>
          </a:xfrm>
          <a:prstGeom prst="roundRect">
            <a:avLst>
              <a:gd fmla="val 800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3040" y="3200400"/>
            <a:ext cx="926287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sz="2600" b="1">
                <a:solidFill>
                  <a:srgbClr val="FFFFFF"/>
                </a:solidFill>
                <a:latin typeface="Trebuchet MS"/>
              </a:rPr>
              <a:t>Dual-Stream Spatial &amp; Frequency-Domain Deepfake Video Detection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0D4FF"/>
                </a:solidFill>
                <a:latin typeface="Calibri"/>
              </a:rPr>
              <a:t>Leveraging EfficientNet-B4, 2D-DCT Spectral Analysis &amp; Attention-Gated Bilinear Fusion</a:t>
            </a:r>
          </a:p>
        </p:txBody>
      </p:sp>
      <p:sp>
        <p:nvSpPr>
          <p:cNvPr id="23" name="Google Shape;23;p3"/>
          <p:cNvSpPr/>
          <p:nvPr/>
        </p:nvSpPr>
        <p:spPr>
          <a:xfrm>
            <a:off x="914400" y="4709160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Project Presentation – I   |   Session 2026–27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6094476" y="5257800"/>
            <a:ext cx="0" cy="118872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/>
          <p:nvPr/>
        </p:nvSpPr>
        <p:spPr>
          <a:xfrm>
            <a:off x="914400" y="5303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i="0" lang="en-US" sz="115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GUIDE NAME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14400" y="557784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Dr. Devendra Gautam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14400" y="59893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sz="1150" b="0">
                <a:solidFill>
                  <a:srgbClr val="94A3B8"/>
                </a:solidFill>
                <a:latin typeface="Calibri"/>
              </a:rPr>
              <a:t>Associate Professor &amp; Mini Project Coordinator, Department of CSE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766560" y="5303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B6CE"/>
              </a:buClr>
              <a:buSzPts val="1050"/>
              <a:buFont typeface="Calibri"/>
              <a:buNone/>
            </a:pPr>
            <a:r>
              <a:rPr b="1" i="0" lang="en-US" sz="1250" u="none" cap="none" strike="noStrike">
                <a:solidFill>
                  <a:srgbClr val="6FB6CE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766560" y="55778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Dev Rana Kaila   —   Roll No. 2301531530023   —   Sec A   (AIML)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B.Tech Computer Science &amp; Engineering (Artificial Intelligence &amp; Machine Learning), 7th Semester</a:t>
            </a:r>
          </a:p>
        </p:txBody>
      </p:sp>
      <p:pic>
        <p:nvPicPr>
          <p:cNvPr id="30" name="Google Shape;30;p3" title="LLOYD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563" y="424800"/>
            <a:ext cx="1005835" cy="99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Presentation 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1440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1440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3619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1440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1440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3619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1440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1440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3619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" y="357530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14400" y="35753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536192" y="355701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309360" y="16002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309360" y="16002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931152" y="158191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System Workflow /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09360" y="225856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309360" y="2258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931152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309360" y="291693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309360" y="2916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931152" y="289864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234450" y="1543875"/>
            <a:ext cx="9849000" cy="444540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554475" y="1772638"/>
            <a:ext cx="91062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6B7593"/>
              </a:buClr>
              <a:buSzPts val="1400"/>
              <a:buFont typeface="Calibri"/>
              <a:buNone/>
            </a:pPr>
            <a:r>
              <a:rPr sz="1250" b="1">
                <a:solidFill>
                  <a:srgbClr val="F1F5F9"/>
                </a:solidFill>
                <a:latin typeface="Calibri"/>
              </a:rPr>
              <a:t>Deepfake video synthesis powered by Generative Adversarial Networks (GANs) poses catastrophic risks to biometric authentication, digital banking KYC verification, judicial evidence admissibility, and societal information integrity.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CBD5E1"/>
                </a:solidFill>
                <a:latin typeface="Calibri"/>
              </a:rPr>
              <a:t>Critical Research Gap — The Compression Blind-Spot: State-of-the-art competition solutions, such as Selim Seferbekov's 1st-place Kaggle DFDC model and MesoNet, rely exclusively on pixel-level (spatial) features. Under standard social media compression (H.264 / WhatsApp / YouTube), subtle pixel manipulation clues are smoothed away, causing spatial-only detectors to plummet by 20% to 35% in accuracy.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CBD5E1"/>
                </a:solidFill>
                <a:latin typeface="Calibri"/>
              </a:rPr>
              <a:t>The Frequency Solution: Convolutional GAN generators leave persistent periodic checkerboard artifacts in the frequency domain due to transposed upsampling operations. Unlike spatial pixels, these mathematical spectral fingerprints survive heavy lossy video compression.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CBD5E1"/>
                </a:solidFill>
                <a:latin typeface="Calibri"/>
              </a:rPr>
              <a:t>The Forensic Opacity Problem: Existing deployed models operate as uninterpretable black boxes outputting only a scalar probability, making them inadmissible in courtrooms and non-compliant with explainable AI (XAI) mandates.</a:t>
            </a:r>
          </a:p>
        </p:txBody>
      </p:sp>
      <p:sp>
        <p:nvSpPr>
          <p:cNvPr id="78" name="Google Shape;78;p5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234415" y="1632220"/>
            <a:ext cx="46635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146304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423160" y="2107683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Automate continuous video ingestion, uniform frame sampling at 5 FPS, and MTCNN face detection with a 15% contextual boundary margin to generate canonical 256×256 aligned face crops.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355055" y="1632220"/>
            <a:ext cx="466350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6583680" y="22860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543775" y="2016245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Design a dual-stream neural architecture combining an EfficientNet-B4 spatial backbone (1,792-d) and a 2D-DCT Spectral CNN (512-d) to capture orthogonal pixel and frequency clues concurrently.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234440" y="4160520"/>
            <a:ext cx="4663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46304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42316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Formulate a rotationally invariant Radial Azimuthal DCT Spectrum A(r) and an Attention-Gated Bilinear Fusion mechanism g = σ(Wg·[vs ∥ vf] + bg) to dynamically weight streams under compression.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355080" y="4160520"/>
            <a:ext cx="4663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583680" y="434340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8E8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9D8E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54380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050" b="0">
                <a:solidFill>
                  <a:srgbClr val="E2E8F0"/>
                </a:solidFill>
                <a:latin typeface="Calibri"/>
              </a:rPr>
              <a:t>Implement Grad-CAM forensic explainability to produce visual saliency heatmaps for courtroom admissibility, and deploy the pipeline via a real-time interactive Streamlit web dashboard.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34475" y="1543875"/>
            <a:ext cx="9849000" cy="4445400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1300" b="1">
                <a:solidFill>
                  <a:srgbClr val="00D4FF"/>
                </a:solidFill>
                <a:latin typeface="Calibri"/>
              </a:rPr>
              <a:t>•  Deep Learning &amp; Modeling: </a:t>
            </a:r>
            <a:endParaRPr/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CBD5E1"/>
                </a:solidFill>
                <a:latin typeface="Calibri"/>
              </a:rPr>
              <a:t>   PyTorch 2.6.0 with CUDA 11.8 (GPU acceleration &amp; CPU fallback), timm (PyTorch Image Models) for EfficientNet-B4 pretrained backbone, torchvision.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•  Signal Processing &amp; Vision: 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CBD5E1"/>
                </a:solidFill>
                <a:latin typeface="Calibri"/>
              </a:rPr>
              <a:t>   OpenCV 4.8+ (video decoding, temporal frame sampling @ 5 FPS), MTCNN (facenet-pytorch) for cascaded face landmark alignment, SciPy (scipy.fft.dctn) for 2D Discrete Cosine Transform.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•  Deployment &amp; Visualization: 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CBD5E1"/>
                </a:solidFill>
                <a:latin typeface="Calibri"/>
              </a:rPr>
              <a:t>   Streamlit 1.30+ for forensic web dashboard, Plotly 5.17+ for interactive confidence gauges and temporal charts, PyTorch-Grad-CAM for saliency heatmaps.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•  Hardware &amp; Environment: 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CBD5E1"/>
                </a:solidFill>
                <a:latin typeface="Calibri"/>
              </a:rPr>
              <a:t>   Python 3.10+ (Anaconda / Miniconda), Windows 11 / Ubuntu 20.04 LTS, 16 GB DDR4 RAM, NVIDIA GeForce GTX/RTX or Intel Core i5/i7 (lightweight 21.4M parameter footprint).</a:t>
            </a:r>
          </a:p>
        </p:txBody>
      </p:sp>
      <p:sp>
        <p:nvSpPr>
          <p:cNvPr id="116" name="Google Shape;116;p7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8"/>
          <p:cNvGraphicFramePr/>
          <p:nvPr/>
        </p:nvGraphicFramePr>
        <p:xfrm>
          <a:off x="1234440" y="16002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{D8F8C752-C599-43E0-AF3E-0C5C76907463}</a:tableStyleId>
              </a:tblPr>
              <a:tblGrid>
                <a:gridCol w="731525"/>
                <a:gridCol w="2743200"/>
                <a:gridCol w="2011675"/>
                <a:gridCol w="1737350"/>
                <a:gridCol w="2468875"/>
              </a:tblGrid>
              <a:tr h="804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S.No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Journal / Year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1F5F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1F5F9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FaceForensics++: Learning to Detect Manipulated Facial Images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Rossler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IEEE ICCV, 2019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Established FF++ benchmark; showed spatial detectors drop 20-35% in accuracy under c23/c40 video compression.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1F5F9"/>
                          </a:solidFill>
                          <a:latin typeface="Calibri"/>
                        </a:rPr>
                        <a:t>[2]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Leveraging Frequency Analysis for Deep Fake Image Recognition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Frank et al.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PMLR ICML, 2020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Proved GAN upsamplings leave persistent spectral anomalies in frequency domain; foundational to our frequency stream.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1F5F9"/>
                          </a:solidFill>
                          <a:latin typeface="Calibri"/>
                        </a:rPr>
                        <a:t>[3]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Thinking in Frequency: Face Forgery Detection by Mining Frequency Clues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Qian et al. (F3-Net)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ECCV, 2020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Used DCT frequency filter bands; achieved 90.4% under compression, but lacked dynamic attention gating and explainability.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1F5F9"/>
                          </a:solidFill>
                          <a:latin typeface="Calibri"/>
                        </a:rPr>
                        <a:t>[4]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1st Place Solution — Kaggle Deepfake Detection Challenge ($500K Prize)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Selim Seferbekov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Kaggle / NeurIPS, 2020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F1F5F9"/>
                          </a:solidFill>
                          <a:latin typeface="Calibri"/>
                        </a:rPr>
                        <a:t>Single spatial EfficientNet-B7; heavy (66M params), lacks frequency stream, black box with zero explainability.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8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System Workflow /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234450" y="1600200"/>
            <a:ext cx="9692700" cy="4585200"/>
          </a:xfrm>
          <a:prstGeom prst="roundRect">
            <a:avLst>
              <a:gd fmla="val 2198" name="adj"/>
            </a:avLst>
          </a:prstGeom>
          <a:solidFill>
            <a:srgbClr val="FFFFFF"/>
          </a:solidFill>
          <a:ln cap="flat" cmpd="sng" w="15875">
            <a:solidFill>
              <a:srgbClr val="DEE4E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828800" y="2551422"/>
            <a:ext cx="8503800" cy="24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600"/>
              <a:buFont typeface="Calibri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Picture 146" descr="1_system_architectur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508760"/>
            <a:ext cx="96926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Expected Outcome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249640" y="160019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478240" y="180135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1478240" y="180135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2072600" y="160019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Dual-Stream Detection Accuracy: Trained DualStreamNet achieving ≥ 98.9% accuracy on uncompressed videos and ≥ 91.8% under heavy c40 compression on FaceForensics++, outperforming spatial-only competition baselines by +10.8%.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1249640" y="256031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478240" y="276147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1478240" y="276147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2072600" y="256031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Compression Resilience via Invariant DCT: Demonstration that Radial Azimuthal Spectrum A(r) and learned attention gating g automatically maintain discriminative power even after aggressive social media H.264/H.265 re-encoding.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249640" y="352043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1478240" y="372159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1478240" y="372159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2072600" y="352043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Forensic Explainability via Grad-CAM: Automatic extraction of pixel-accurate visual saliency heatmaps highlighting manipulated facial seams (hairline, eyes, jaw contour) for forensic auditing and legal courtroom admissibility.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249640" y="4480550"/>
            <a:ext cx="9692700" cy="777300"/>
          </a:xfrm>
          <a:prstGeom prst="roundRect">
            <a:avLst>
              <a:gd fmla="val 10588" name="adj"/>
            </a:avLst>
          </a:prstGeom>
          <a:solidFill>
            <a:srgbClr val="FFFFFF"/>
          </a:solidFill>
          <a:ln cap="flat" cmpd="sng" w="12700">
            <a:solidFill>
              <a:srgbClr val="DE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1478240" y="4681718"/>
            <a:ext cx="384000" cy="384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478240" y="468171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2072600" y="4480550"/>
            <a:ext cx="8595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Calibri"/>
              <a:buNone/>
            </a:pPr>
            <a:r>
              <a:rPr sz="1150" b="0">
                <a:solidFill>
                  <a:srgbClr val="E2E8F0"/>
                </a:solidFill>
                <a:latin typeface="Calibri"/>
              </a:rPr>
              <a:t>Interactive Web Dashboard &amp; Production Pipeline: Fully functional Streamlit forensic analyzer providing real-time video upload, temporal confidence timeline, Plotly speedometer gauge, and exportable forensic reports.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21295C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502920" y="457200"/>
            <a:ext cx="530352" cy="530352"/>
          </a:xfrm>
          <a:prstGeom prst="roundRect">
            <a:avLst>
              <a:gd fmla="val 2069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502920" y="4572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234440" y="4297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SECTION 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234440" y="676656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249640" y="4563960"/>
            <a:ext cx="9692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1300"/>
              <a:buFont typeface="Calibri"/>
              <a:buNone/>
            </a:pPr>
            <a:r>
              <a:rPr i="1" lang="en-US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1" lang="en-US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All references must be cited in IEEE format</a:t>
            </a:r>
            <a:r>
              <a:rPr i="1" lang="en-US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249650" y="1243575"/>
            <a:ext cx="9692700" cy="30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sz="1000" b="0">
                <a:solidFill>
                  <a:srgbClr val="CBD5E1"/>
                </a:solidFill>
                <a:latin typeface="Calibri"/>
              </a:rPr>
              <a:t>[1]  A. Rossler, D. Cozzolino, L. Verdoliva, C. Riess, J. Thies, and M. Niessner, "FaceForensics++: Learning to Detect Manipulated Facial Images," in IEEE/CVF International Conference on Computer Vision (ICCV), pp. 1–11, 2019.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[2]  J. Frank, T. Eisenhofer, L. Schonherr, A. Fischer, D. Kolossa, and T. Holz, "Leveraging Frequency Analysis for Deep Fake Image Recognition," in International Conference on Machine Learning (ICML), PMLR vol. 119, pp. 3247–3258, 2020.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[3]  Y. Qian, G. Yin, L. Sheng, Z. Chen, and J. Shao, "Thinking in Frequency: Face Forgery Detection by Mining Frequency-aware Clues," in European Conference on Computer Vision (ECCV), Springer, pp. 86–103, 2020.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[4]  M. Tan and Q. V. Le, "EfficientNet: Rethinking Model Scaling for Convolutional Neural Networks," in International Conference on Machine Learning (ICML), PMLR vol. 97, pp. 6105–6114, 2019.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[5]  R. R. Selvaraju, M. Cogswell, A. Das, R. Vedaldi, D. Parikh, and D. Batra, "Grad-CAM: Visual Explanations from Deep Networks via Gradient-Based Localization," International Journal of Computer Vision (IJCV), vol. 128, pp. 336–359, 2020.</a:t>
            </a:r>
          </a:p>
        </p:txBody>
      </p:sp>
      <p:sp>
        <p:nvSpPr>
          <p:cNvPr id="189" name="Google Shape;189;p11"/>
          <p:cNvSpPr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BCS753  ·  B.TECH MAJOR PROJECT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1228832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9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9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10424160" y="-1463040"/>
            <a:ext cx="3108960" cy="3108960"/>
          </a:xfrm>
          <a:prstGeom prst="ellipse">
            <a:avLst/>
          </a:prstGeom>
          <a:solidFill>
            <a:srgbClr val="1C7293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-1097280" y="5669280"/>
            <a:ext cx="2194560" cy="2194560"/>
          </a:xfrm>
          <a:prstGeom prst="ellipse">
            <a:avLst/>
          </a:prstGeom>
          <a:solidFill>
            <a:srgbClr val="CFE3E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 are welcome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2"/>
          <p:cNvCxnSpPr/>
          <p:nvPr/>
        </p:nvCxnSpPr>
        <p:spPr>
          <a:xfrm>
            <a:off x="5271516" y="4160520"/>
            <a:ext cx="164592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12"/>
          <p:cNvSpPr/>
          <p:nvPr/>
        </p:nvSpPr>
        <p:spPr>
          <a:xfrm>
            <a:off x="915925" y="4559880"/>
            <a:ext cx="103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E"/>
                </a:solidFill>
                <a:latin typeface="Calibri"/>
                <a:ea typeface="Calibri"/>
                <a:cs typeface="Calibri"/>
                <a:sym typeface="Calibri"/>
              </a:rPr>
              <a:t>Lloyd Institute of Engineering &amp; Technology, Greater Noida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